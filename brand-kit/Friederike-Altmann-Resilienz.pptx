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12192000"/>
  <p:embeddedFontLst>
    <p:embeddedFont>
      <p:font typeface="Manrope Light"/>
      <p:regular r:id="rId21"/>
      <p:bold r:id="rId22"/>
    </p:embeddedFont>
    <p:embeddedFont>
      <p:font typeface="Manrope"/>
      <p:regular r:id="rId23"/>
      <p:bold r:id="rId24"/>
    </p:embeddedFont>
    <p:embeddedFont>
      <p:font typeface="Manrope ExtraBold"/>
      <p:bold r:id="rId25"/>
    </p:embeddedFont>
    <p:embeddedFont>
      <p:font typeface="Manrope Medium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ManropeLight-bold.fntdata"/><Relationship Id="rId21" Type="http://schemas.openxmlformats.org/officeDocument/2006/relationships/font" Target="fonts/ManropeLight-regular.fntdata"/><Relationship Id="rId24" Type="http://schemas.openxmlformats.org/officeDocument/2006/relationships/font" Target="fonts/Manrope-bold.fntdata"/><Relationship Id="rId23" Type="http://schemas.openxmlformats.org/officeDocument/2006/relationships/font" Target="fonts/Manrope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ManropeMedium-regular.fntdata"/><Relationship Id="rId25" Type="http://schemas.openxmlformats.org/officeDocument/2006/relationships/font" Target="fonts/ManropeExtraBold-bold.fntdata"/><Relationship Id="rId27" Type="http://schemas.openxmlformats.org/officeDocument/2006/relationships/font" Target="fonts/ManropeMedium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1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5" Type="http://schemas.openxmlformats.org/officeDocument/2006/relationships/image" Target="../media/image11.jpg"/></Relationships>
</file>

<file path=ppt/slideLayouts/_rels/slideLayout1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5" Type="http://schemas.openxmlformats.org/officeDocument/2006/relationships/image" Target="../media/image4.png"/></Relationships>
</file>

<file path=ppt/slideLayouts/_rels/slideLayout1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Layouts/_rels/slideLayout1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5" Type="http://schemas.openxmlformats.org/officeDocument/2006/relationships/image" Target="../media/image7.png"/></Relationships>
</file>

<file path=ppt/slideLayouts/_rels/slideLayout1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2.png"/></Relationships>
</file>

<file path=ppt/slideLayouts/_rels/slideLayout2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Layouts/_rels/slideLayout2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5" Type="http://schemas.openxmlformats.org/officeDocument/2006/relationships/image" Target="../media/image13.jpg"/><Relationship Id="rId6" Type="http://schemas.openxmlformats.org/officeDocument/2006/relationships/image" Target="../media/image18.png"/></Relationships>
</file>

<file path=ppt/slideLayouts/_rels/slideLayout2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2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OVER">
    <p:bg>
      <p:bgPr>
        <a:solidFill>
          <a:srgbClr val="3A3142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title="FA_Logo_horizontal_02_Tin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9202" y="640075"/>
            <a:ext cx="4805052" cy="10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1">
  <p:cSld name="COVER_1">
    <p:bg>
      <p:bgPr>
        <a:solidFill>
          <a:srgbClr val="F9F7FA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 title="FA_Logo_horizontal_01_Flieder50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9202" y="640075"/>
            <a:ext cx="4805052" cy="104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LIGHT">
  <p:cSld name="CONTENT_LIGHT">
    <p:bg>
      <p:bgPr>
        <a:solidFill>
          <a:srgbClr val="FCFB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_DARK">
  <p:cSld name="CONTENT_DARK">
    <p:bg>
      <p:bgPr>
        <a:solidFill>
          <a:srgbClr val="3A3142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C2BCC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C2BCC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1" name="Google Shape;21;p5" title="FA_Logo_signet_02_Tinte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LIGHT">
  <p:cSld name="SECTION_LIGHT">
    <p:bg>
      <p:bgPr>
        <a:solidFill>
          <a:srgbClr val="EEE9F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SAND">
  <p:cSld name="SECTION_SAND">
    <p:bg>
      <p:bgPr>
        <a:solidFill>
          <a:srgbClr val="F1EDE6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DARK">
  <p:cSld name="SECTION_DARK">
    <p:bg>
      <p:bgPr>
        <a:solidFill>
          <a:srgbClr val="3A3142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8" title="FA_Logo_signet_02_Tinte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C2BCC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C2BCC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ONTACT">
    <p:bg>
      <p:bgPr>
        <a:solidFill>
          <a:srgbClr val="3A3142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sketch_einzel_light.png" id="32" name="Google Shape;32;p9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8004945" y="845250"/>
            <a:ext cx="155448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prozess_light.png" id="33" name="Google Shape;33;p9"/>
          <p:cNvPicPr preferRelativeResize="0"/>
          <p:nvPr/>
        </p:nvPicPr>
        <p:blipFill rotWithShape="1">
          <a:blip r:embed="rId3">
            <a:alphaModFix amt="22000"/>
          </a:blip>
          <a:srcRect b="0" l="0" r="0" t="0"/>
          <a:stretch/>
        </p:blipFill>
        <p:spPr>
          <a:xfrm>
            <a:off x="9894535" y="1046195"/>
            <a:ext cx="155448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gruppe_light.png" id="34" name="Google Shape;34;p9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8340045" y="3032345"/>
            <a:ext cx="1554480" cy="155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1_COVER">
  <p:cSld name="01_COVER">
    <p:bg>
      <p:bgPr>
        <a:solidFill>
          <a:srgbClr val="3A3142"/>
        </a:solidFill>
      </p:bgPr>
    </p:bg>
    <p:spTree>
      <p:nvGrpSpPr>
        <p:cNvPr id="11" name="01_COVER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 title="FA_Logo_horizontal_02_Tinte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59202" y="640075"/>
            <a:ext cx="4805052" cy="10417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11"/>
          <p:cNvSpPr/>
          <p:nvPr>
            <p:ph type="body" idx="1"/>
          </p:nvPr>
        </p:nvSpPr>
        <p:spPr>
          <a:xfrm>
            <a:off x="640074" y="2906875"/>
            <a:ext cx="11283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6400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6400"/>
              <a:buFont typeface="Manrope"/>
              <a:buNone/>
            </a:pPr>
            <a:r>
              <a:rPr i="0" lang="en-US" sz="64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Resilienz.</a:t>
            </a:r>
            <a:endParaRPr i="0" sz="64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6400"/>
              <a:buFont typeface="Manrope"/>
              <a:buNone/>
            </a:pPr>
            <a:r>
              <a:rPr i="0" lang="en-US" sz="6400" u="none" cap="none" strike="noStrike">
                <a:solidFill>
                  <a:srgbClr val="FCFBF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Trainierbar,nicht </a:t>
            </a:r>
            <a:r>
              <a:rPr i="0" lang="en-US" sz="64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Schicksal.</a:t>
            </a:r>
            <a:endParaRPr i="0" sz="64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2" name="Google Shape;42;p11"/>
          <p:cNvSpPr/>
          <p:nvPr>
            <p:ph type="body" idx="2"/>
          </p:nvPr>
        </p:nvSpPr>
        <p:spPr>
          <a:xfrm>
            <a:off x="640080" y="5650075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000">
                <a:solidFill>
                  <a:srgbClr val="E3DDE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1100"/>
              <a:buFont typeface="Manrope"/>
              <a:buNone/>
            </a:pPr>
            <a:r>
              <a:rPr lang="en-US" sz="2000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SYSTEMISCHES</a:t>
            </a:r>
            <a:r>
              <a:rPr lang="en-US" sz="2000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COACHING </a:t>
            </a:r>
            <a:r>
              <a:rPr i="0" lang="en-US" sz="2000" u="none" cap="none" strike="noStrike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· R</a:t>
            </a:r>
            <a:r>
              <a:rPr lang="en-US" sz="2000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ESILIENZ &amp; MENTALE GESUNDHEIT</a:t>
            </a:r>
            <a:endParaRPr i="0" sz="2000" u="none" cap="none" strike="noStrike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2_STRESS_INTRO">
  <p:cSld name="02_STRESS_INTRO">
    <p:bg>
      <p:bgPr>
        <a:solidFill>
          <a:srgbClr val="FCFBFA"/>
        </a:solidFill>
      </p:bgPr>
    </p:bg>
    <p:spTree>
      <p:nvGrpSpPr>
        <p:cNvPr id="15" name="02_STRESS_INTRO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48" name="Google Shape;48;p12"/>
          <p:cNvSpPr/>
          <p:nvPr>
            <p:ph type="body" idx="2"/>
          </p:nvPr>
        </p:nvSpPr>
        <p:spPr>
          <a:xfrm>
            <a:off x="64008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01 · STRESS-REPORT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9" name="Google Shape;49;p12"/>
          <p:cNvSpPr/>
          <p:nvPr>
            <p:ph type="body" idx="3"/>
          </p:nvPr>
        </p:nvSpPr>
        <p:spPr>
          <a:xfrm>
            <a:off x="640080" y="1909463"/>
            <a:ext cx="10058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60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6000"/>
              <a:buFont typeface="Manrope"/>
              <a:buNone/>
            </a:pPr>
            <a:r>
              <a:rPr i="0" lang="en-US" sz="60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Deutschland ist</a:t>
            </a:r>
            <a:r>
              <a:rPr b="1" i="0" lang="en-US" sz="6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0" lang="en-US" sz="60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müde.</a:t>
            </a:r>
            <a:endParaRPr i="0" sz="60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0" name="Google Shape;50;p12"/>
          <p:cNvSpPr/>
          <p:nvPr>
            <p:ph type="body" idx="4"/>
          </p:nvPr>
        </p:nvSpPr>
        <p:spPr>
          <a:xfrm>
            <a:off x="640080" y="3646845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Mentale Belastung ist keine Randerscheinung mehr. Sie betrifft die Mehrheit der Beschäftigten, prägt Krankenstände und kostet Unternehmen jedes Jahr Milliarden — leise, aber konsequent.</a:t>
            </a:r>
            <a:endParaRPr b="0" i="0" sz="1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3_STATS_3UP">
  <p:cSld name="03_STATS_3UP">
    <p:bg>
      <p:bgPr>
        <a:solidFill>
          <a:srgbClr val="3A3142"/>
        </a:solidFill>
      </p:bgPr>
    </p:bg>
    <p:spTree>
      <p:nvGrpSpPr>
        <p:cNvPr id="19" name="03_STATS_3UP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C2BCC0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C2BCC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21" name="Google Shape;21;p5" title="FA_Logo_signet_02_Tinte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/>
          <p:nvPr>
            <p:ph type="body" idx="1"/>
          </p:nvPr>
        </p:nvSpPr>
        <p:spPr>
          <a:xfrm>
            <a:off x="640080" y="6400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E3DDE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ZAHLEN, DATEN, FAKTEN</a:t>
            </a:r>
            <a:endParaRPr b="0" i="0" sz="1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9" name="Google Shape;59;p13"/>
          <p:cNvSpPr/>
          <p:nvPr>
            <p:ph type="body" idx="2"/>
          </p:nvPr>
        </p:nvSpPr>
        <p:spPr>
          <a:xfrm>
            <a:off x="640080" y="1097280"/>
            <a:ext cx="10058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400" b="1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4400"/>
              <a:buFont typeface="Manrope"/>
              <a:buNone/>
            </a:pPr>
            <a:r>
              <a:rPr b="1" i="0" lang="en-US" sz="4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Was uns die Reports sagen.</a:t>
            </a:r>
            <a:endParaRPr b="0" i="0" sz="4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40080" y="2743200"/>
            <a:ext cx="36600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>
            <p:ph type="body" idx="3"/>
          </p:nvPr>
        </p:nvSpPr>
        <p:spPr>
          <a:xfrm>
            <a:off x="914400" y="2697480"/>
            <a:ext cx="318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8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80 %</a:t>
            </a:r>
            <a:endParaRPr b="0" i="0" sz="4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2" name="Google Shape;62;p13"/>
          <p:cNvSpPr/>
          <p:nvPr>
            <p:ph type="body" idx="4"/>
          </p:nvPr>
        </p:nvSpPr>
        <p:spPr>
          <a:xfrm>
            <a:off x="914400" y="3749040"/>
            <a:ext cx="3180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4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der Arbeitnehmer:innen fühlen sich gestresst.</a:t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3" name="Google Shape;63;p13"/>
          <p:cNvSpPr/>
          <p:nvPr>
            <p:ph type="body" idx="5"/>
          </p:nvPr>
        </p:nvSpPr>
        <p:spPr>
          <a:xfrm>
            <a:off x="914400" y="5029200"/>
            <a:ext cx="318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BDB0CC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800"/>
              <a:buFont typeface="Manrope"/>
              <a:buNone/>
            </a:pPr>
            <a:r>
              <a:rPr b="1" i="0" lang="en-US" sz="12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TK Stressstudie</a:t>
            </a:r>
            <a:endParaRPr b="0" i="0" sz="1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368698" y="2743200"/>
            <a:ext cx="36600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>
            <p:ph type="body" idx="6"/>
          </p:nvPr>
        </p:nvSpPr>
        <p:spPr>
          <a:xfrm>
            <a:off x="4643018" y="2697480"/>
            <a:ext cx="318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8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13 %</a:t>
            </a:r>
            <a:endParaRPr b="0" i="0" sz="4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6" name="Google Shape;66;p13"/>
          <p:cNvSpPr/>
          <p:nvPr>
            <p:ph type="body" idx="7"/>
          </p:nvPr>
        </p:nvSpPr>
        <p:spPr>
          <a:xfrm>
            <a:off x="4643018" y="3749040"/>
            <a:ext cx="3180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4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aller Arbeitsunfähigkeitstage gehen auf psychische Erkrankungen zurück.</a:t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7" name="Google Shape;67;p13"/>
          <p:cNvSpPr/>
          <p:nvPr>
            <p:ph type="body" idx="8"/>
          </p:nvPr>
        </p:nvSpPr>
        <p:spPr>
          <a:xfrm>
            <a:off x="4643018" y="5029200"/>
            <a:ext cx="318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BDB0CC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800"/>
              <a:buFont typeface="Manrope"/>
              <a:buNone/>
            </a:pPr>
            <a:r>
              <a:rPr b="1" i="0" lang="en-US" sz="12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TK Gesundheitsreport</a:t>
            </a:r>
            <a:endParaRPr b="0" i="0" sz="1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8097317" y="2743200"/>
            <a:ext cx="36600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>
            <p:ph type="body" idx="9"/>
          </p:nvPr>
        </p:nvSpPr>
        <p:spPr>
          <a:xfrm>
            <a:off x="8371637" y="2697480"/>
            <a:ext cx="318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8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87 Mrd. €</a:t>
            </a:r>
            <a:endParaRPr b="0" i="0" sz="48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0" name="Google Shape;70;p13"/>
          <p:cNvSpPr/>
          <p:nvPr>
            <p:ph type="body" idx="10"/>
          </p:nvPr>
        </p:nvSpPr>
        <p:spPr>
          <a:xfrm>
            <a:off x="8371637" y="3749040"/>
            <a:ext cx="3180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4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jährliche Kosten durch Stress und psychische Belastung in Deutschland.</a:t>
            </a:r>
            <a:endParaRPr b="0" i="0" sz="14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1" name="Google Shape;71;p13"/>
          <p:cNvSpPr/>
          <p:nvPr>
            <p:ph type="body" idx="11"/>
          </p:nvPr>
        </p:nvSpPr>
        <p:spPr>
          <a:xfrm>
            <a:off x="8371637" y="5029200"/>
            <a:ext cx="318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BDB0CC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800"/>
              <a:buFont typeface="Manrope"/>
              <a:buNone/>
            </a:pPr>
            <a:r>
              <a:rPr b="1" i="0" lang="en-US" sz="12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BAuA / WHO Schätzung</a:t>
            </a:r>
            <a:endParaRPr b="0" i="0" sz="1200" u="none" cap="none" strike="noStrike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4_BEGRIFFSKLAERUNG">
  <p:cSld name="04_BEGRIFFSKLAERUNG">
    <p:bg>
      <p:bgPr>
        <a:solidFill>
          <a:srgbClr val="FCFBFA"/>
        </a:solidFill>
      </p:bgPr>
    </p:bg>
    <p:spTree>
      <p:nvGrpSpPr>
        <p:cNvPr id="15" name="04_BEGRIFFSKLAERUN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descr="/sessions/ecstatic-compassionate-tesla/mnt/outputs/brand/room-window.jpg" id="77" name="Google Shape;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5029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>
            <p:ph type="body" idx="2"/>
          </p:nvPr>
        </p:nvSpPr>
        <p:spPr>
          <a:xfrm>
            <a:off x="56692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02 · BEGRIFFSKLÄRUNG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9" name="Google Shape;79;p14"/>
          <p:cNvSpPr/>
          <p:nvPr>
            <p:ph type="body" idx="3"/>
          </p:nvPr>
        </p:nvSpPr>
        <p:spPr>
          <a:xfrm>
            <a:off x="5669280" y="1051560"/>
            <a:ext cx="5943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4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400"/>
              <a:buFont typeface="Manrope"/>
              <a:buNone/>
            </a:pPr>
            <a:r>
              <a:rPr i="0" lang="en-US" sz="44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Resilienz —</a:t>
            </a:r>
            <a:endParaRPr i="0" sz="4400" u="none" cap="none" strike="noStrike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400"/>
              <a:buFont typeface="Manrope"/>
              <a:buNone/>
            </a:pPr>
            <a:r>
              <a:rPr i="0" lang="en-US" sz="44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noch so ein </a:t>
            </a:r>
            <a:r>
              <a:rPr lang="en-US" sz="44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Modewort?</a:t>
            </a:r>
            <a:endParaRPr sz="44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0" name="Google Shape;80;p14"/>
          <p:cNvSpPr/>
          <p:nvPr>
            <p:ph type="body" idx="4"/>
          </p:nvPr>
        </p:nvSpPr>
        <p:spPr>
          <a:xfrm>
            <a:off x="5669280" y="3337560"/>
            <a:ext cx="5943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Resilienz ist die Fähigkeit, mit Belastungen so umzugehen, dass wir handlungs­fähig, gesund und in Verbindung mit uns selbst bleiben — und nach Krisen wieder ins Gleich­gewicht finden.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1" name="Google Shape;81;p14"/>
          <p:cNvSpPr/>
          <p:nvPr>
            <p:ph type="body" idx="5"/>
          </p:nvPr>
        </p:nvSpPr>
        <p:spPr>
          <a:xfrm>
            <a:off x="5669280" y="512064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400" b="1" i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400"/>
              <a:buFont typeface="Manrope"/>
              <a:buNone/>
            </a:pPr>
            <a:r>
              <a:rPr b="1" i="1" lang="en-US" sz="14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Nicht: härter werden. Sondern: klüger mit sich umgehen.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5_SECTION_FAKTOREN">
  <p:cSld name="05_SECTION_FAKTOREN">
    <p:bg>
      <p:bgPr>
        <a:solidFill>
          <a:srgbClr val="EEE9F1"/>
        </a:solidFill>
      </p:bgPr>
    </p:bg>
    <p:spTree>
      <p:nvGrpSpPr>
        <p:cNvPr id="22" name="05_SECTION_FAKTOREN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descr="/sessions/ecstatic-compassionate-tesla/mnt/outputs/brand/sketch_gruppe.png" id="88" name="Google Shape;88;p15"/>
          <p:cNvPicPr preferRelativeResize="0"/>
          <p:nvPr/>
        </p:nvPicPr>
        <p:blipFill rotWithShape="1">
          <a:blip r:embed="rId5">
            <a:alphaModFix amt="28000"/>
          </a:blip>
          <a:srcRect b="0" l="0" r="0" t="0"/>
          <a:stretch/>
        </p:blipFill>
        <p:spPr>
          <a:xfrm>
            <a:off x="9448495" y="7315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>
            <p:ph type="body" idx="1"/>
          </p:nvPr>
        </p:nvSpPr>
        <p:spPr>
          <a:xfrm>
            <a:off x="640080" y="310896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7000">
                <a:solidFill>
                  <a:srgbClr val="4A3F54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7000"/>
              <a:buFont typeface="Manrope"/>
              <a:buNone/>
            </a:pPr>
            <a:r>
              <a:rPr i="0" lang="en-US" sz="7000" u="none" cap="none" strike="noStrike">
                <a:solidFill>
                  <a:srgbClr val="4A3F5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Die </a:t>
            </a:r>
            <a:r>
              <a:rPr i="0" lang="en-US" sz="70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6 Resilienz</a:t>
            </a:r>
            <a:r>
              <a:rPr i="0" lang="en-US" sz="7000" u="none" cap="none" strike="noStrike">
                <a:solidFill>
                  <a:srgbClr val="4A3F5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-</a:t>
            </a:r>
            <a:endParaRPr i="0" sz="7000" u="none" cap="none" strike="noStrike">
              <a:solidFill>
                <a:srgbClr val="4A3F54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7000"/>
              <a:buFont typeface="Manrope"/>
              <a:buNone/>
            </a:pPr>
            <a:r>
              <a:rPr i="0" lang="en-US" sz="7000" u="none" cap="none" strike="noStrike">
                <a:solidFill>
                  <a:srgbClr val="4A3F5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faktoren.</a:t>
            </a:r>
            <a:endParaRPr i="0" sz="7000" u="none" cap="none" strike="noStrike">
              <a:solidFill>
                <a:srgbClr val="4A3F54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90" name="Google Shape;90;p15"/>
          <p:cNvSpPr txBox="1"/>
          <p:nvPr>
            <p:ph type="body" idx="2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05 / 19</a:t>
            </a:r>
            <a:endParaRPr sz="80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6_GRID_6_FAKTOREN">
  <p:cSld name="06_GRID_6_FAKTOREN">
    <p:bg>
      <p:bgPr>
        <a:solidFill>
          <a:srgbClr val="FCFBFA"/>
        </a:solidFill>
      </p:bgPr>
    </p:bg>
    <p:spTree>
      <p:nvGrpSpPr>
        <p:cNvPr id="15" name="06_GRID_6_FAKTOREN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6" name="Google Shape;96;p16"/>
          <p:cNvSpPr/>
          <p:nvPr>
            <p:ph type="body" idx="2"/>
          </p:nvPr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DIE 6 RESILIENZ-FAKTOREN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7" name="Google Shape;97;p16"/>
          <p:cNvSpPr/>
          <p:nvPr>
            <p:ph type="body" idx="3"/>
          </p:nvPr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30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3000"/>
              <a:buFont typeface="Manrope"/>
              <a:buNone/>
            </a:pPr>
            <a:r>
              <a:rPr b="1" i="0" lang="en-US" sz="3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Sechs Hebel — und sie sind alle trainierbar.</a:t>
            </a:r>
            <a:endParaRPr b="0" i="0" sz="3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40080" y="182880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>
            <p:ph type="body" idx="4"/>
          </p:nvPr>
        </p:nvSpPr>
        <p:spPr>
          <a:xfrm>
            <a:off x="914400" y="20574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0" name="Google Shape;100;p16"/>
          <p:cNvSpPr/>
          <p:nvPr>
            <p:ph type="body" idx="5"/>
          </p:nvPr>
        </p:nvSpPr>
        <p:spPr>
          <a:xfrm>
            <a:off x="914400" y="237744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Selbstregulation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1" name="Google Shape;101;p16"/>
          <p:cNvSpPr/>
          <p:nvPr>
            <p:ph type="body" idx="6"/>
          </p:nvPr>
        </p:nvSpPr>
        <p:spPr>
          <a:xfrm>
            <a:off x="914400" y="288036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5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Emotionen wahrnehmen, einordnen und steuern — auch unter Stress.</a:t>
            </a:r>
            <a:endParaRPr b="0" i="0" sz="115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368698" y="182880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>
            <p:ph type="body" idx="7"/>
          </p:nvPr>
        </p:nvSpPr>
        <p:spPr>
          <a:xfrm>
            <a:off x="4643018" y="20574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4" name="Google Shape;104;p16"/>
          <p:cNvSpPr/>
          <p:nvPr>
            <p:ph type="body" idx="8"/>
          </p:nvPr>
        </p:nvSpPr>
        <p:spPr>
          <a:xfrm>
            <a:off x="4643018" y="237744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Optimismus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16"/>
          <p:cNvSpPr/>
          <p:nvPr>
            <p:ph type="body" idx="9"/>
          </p:nvPr>
        </p:nvSpPr>
        <p:spPr>
          <a:xfrm>
            <a:off x="4643018" y="288036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5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Eine realistisch-hoffnungs­volle Grundhaltung gegenüber dem, was kommt.</a:t>
            </a:r>
            <a:endParaRPr b="0" i="0" sz="115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097317" y="182880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>
            <p:ph type="body" idx="10"/>
          </p:nvPr>
        </p:nvSpPr>
        <p:spPr>
          <a:xfrm>
            <a:off x="8371637" y="20574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08" name="Google Shape;108;p16"/>
          <p:cNvSpPr/>
          <p:nvPr>
            <p:ph type="body" idx="11"/>
          </p:nvPr>
        </p:nvSpPr>
        <p:spPr>
          <a:xfrm>
            <a:off x="8371637" y="237744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Soziales Netz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9" name="Google Shape;109;p16"/>
          <p:cNvSpPr/>
          <p:nvPr>
            <p:ph type="body" idx="12"/>
          </p:nvPr>
        </p:nvSpPr>
        <p:spPr>
          <a:xfrm>
            <a:off x="8371637" y="288036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5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Tragfähige Beziehungen und ein Umfeld, das mitträgt und mit­denkt.</a:t>
            </a:r>
            <a:endParaRPr b="0" i="0" sz="115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40080" y="397764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>
            <p:ph type="body" idx="13"/>
          </p:nvPr>
        </p:nvSpPr>
        <p:spPr>
          <a:xfrm>
            <a:off x="914400" y="420624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2" name="Google Shape;112;p16"/>
          <p:cNvSpPr/>
          <p:nvPr>
            <p:ph type="body" idx="14"/>
          </p:nvPr>
        </p:nvSpPr>
        <p:spPr>
          <a:xfrm>
            <a:off x="914400" y="452628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Selbstwirksamkeit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3" name="Google Shape;113;p16"/>
          <p:cNvSpPr/>
          <p:nvPr>
            <p:ph type="body" idx="15"/>
          </p:nvPr>
        </p:nvSpPr>
        <p:spPr>
          <a:xfrm>
            <a:off x="914400" y="502920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5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Das Vertrauen, mit eigenen Ressourcen Schwieriges bewältigen zu können.</a:t>
            </a:r>
            <a:endParaRPr b="0" i="0" sz="115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368698" y="397764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>
            <p:ph type="body" idx="16"/>
          </p:nvPr>
        </p:nvSpPr>
        <p:spPr>
          <a:xfrm>
            <a:off x="4643018" y="420624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6" name="Google Shape;116;p16"/>
          <p:cNvSpPr/>
          <p:nvPr>
            <p:ph type="body" idx="17"/>
          </p:nvPr>
        </p:nvSpPr>
        <p:spPr>
          <a:xfrm>
            <a:off x="4643018" y="452628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Lösungs­orientierung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7" name="Google Shape;117;p16"/>
          <p:cNvSpPr/>
          <p:nvPr>
            <p:ph type="body" idx="18"/>
          </p:nvPr>
        </p:nvSpPr>
        <p:spPr>
          <a:xfrm>
            <a:off x="4643018" y="502920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5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Aufmerksamkeit lenken — vom Problem zur nächst­möglichen Bewegung.</a:t>
            </a:r>
            <a:endParaRPr b="0" i="0" sz="115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097317" y="397764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>
            <p:ph type="body" idx="19"/>
          </p:nvPr>
        </p:nvSpPr>
        <p:spPr>
          <a:xfrm>
            <a:off x="8371637" y="420624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20" name="Google Shape;120;p16"/>
          <p:cNvSpPr/>
          <p:nvPr>
            <p:ph type="body" idx="20"/>
          </p:nvPr>
        </p:nvSpPr>
        <p:spPr>
          <a:xfrm>
            <a:off x="8371637" y="452628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Sinn &amp; Werte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" name="Google Shape;121;p16"/>
          <p:cNvSpPr/>
          <p:nvPr>
            <p:ph type="body" idx="21"/>
          </p:nvPr>
        </p:nvSpPr>
        <p:spPr>
          <a:xfrm>
            <a:off x="8371637" y="502920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5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Eine innere Kompassnadel — wofür stehst du auf und wofür auf?</a:t>
            </a:r>
            <a:endParaRPr b="0" i="0" sz="115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7_SECTION_VERAENDERUNG">
  <p:cSld name="07_SECTION_VERAENDERUNG">
    <p:bg>
      <p:bgPr>
        <a:solidFill>
          <a:srgbClr val="F1EDE6"/>
        </a:solidFill>
      </p:bgPr>
    </p:bg>
    <p:spTree>
      <p:nvGrpSpPr>
        <p:cNvPr id="25" name="07_SECTION_VERAENDERUN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7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7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descr="/sessions/ecstatic-compassionate-tesla/mnt/outputs/brand/sketch_prozess.png" id="128" name="Google Shape;128;p17"/>
          <p:cNvPicPr preferRelativeResize="0"/>
          <p:nvPr/>
        </p:nvPicPr>
        <p:blipFill rotWithShape="1">
          <a:blip r:embed="rId5">
            <a:alphaModFix amt="30000"/>
          </a:blip>
          <a:srcRect b="0" l="0" r="0" t="0"/>
          <a:stretch/>
        </p:blipFill>
        <p:spPr>
          <a:xfrm>
            <a:off x="9265615" y="73152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>
            <p:ph type="body" idx="1"/>
          </p:nvPr>
        </p:nvSpPr>
        <p:spPr>
          <a:xfrm>
            <a:off x="640080" y="310896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70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7000"/>
              <a:buFont typeface="Manrope"/>
              <a:buNone/>
            </a:pPr>
            <a:r>
              <a:rPr b="1" i="0" lang="en-US" sz="7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Wie </a:t>
            </a:r>
            <a:r>
              <a:rPr b="1" i="0" lang="en-US" sz="70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Veränderung</a:t>
            </a:r>
            <a:endParaRPr b="0" i="0" sz="7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7000"/>
              <a:buFont typeface="Manrope"/>
              <a:buNone/>
            </a:pPr>
            <a:r>
              <a:rPr b="1" i="0" lang="en-US" sz="7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gelingt.</a:t>
            </a:r>
            <a:endParaRPr b="0" i="0" sz="7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0" name="Google Shape;130;p17"/>
          <p:cNvSpPr txBox="1"/>
          <p:nvPr>
            <p:ph type="body" idx="2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07 / 19</a:t>
            </a:r>
            <a:endParaRPr sz="80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8_SPLIT_GEHIRN_MOTIV">
  <p:cSld name="08_SPLIT_GEHIRN_MOTIV">
    <p:bg>
      <p:bgPr>
        <a:solidFill>
          <a:srgbClr val="FCFBFA"/>
        </a:solidFill>
      </p:bgPr>
    </p:bg>
    <p:spTree>
      <p:nvGrpSpPr>
        <p:cNvPr id="15" name="08_SPLIT_GEHIRN_MOTIV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6" name="Google Shape;136;p18"/>
          <p:cNvSpPr/>
          <p:nvPr>
            <p:ph type="body" idx="2"/>
          </p:nvPr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GEHIRN, GEWOHNHEIT, MOTIV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7" name="Google Shape;137;p18"/>
          <p:cNvSpPr/>
          <p:nvPr>
            <p:ph type="body" idx="3"/>
          </p:nvPr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800"/>
              <a:buFont typeface="Manrope"/>
              <a:buNone/>
            </a:pPr>
            <a:r>
              <a:rPr b="1" i="0" lang="en-US" sz="2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Veränderung braucht mehr als guten Willen.</a:t>
            </a:r>
            <a:endParaRPr b="0" i="0" sz="2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40080" y="2110065"/>
            <a:ext cx="5272800" cy="3657600"/>
          </a:xfrm>
          <a:prstGeom prst="roundRect">
            <a:avLst>
              <a:gd fmla="val 20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>
            <p:ph type="body" idx="4"/>
          </p:nvPr>
        </p:nvSpPr>
        <p:spPr>
          <a:xfrm>
            <a:off x="1005840" y="2338665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0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0" name="Google Shape;140;p18"/>
          <p:cNvSpPr/>
          <p:nvPr>
            <p:ph type="body" idx="5"/>
          </p:nvPr>
        </p:nvSpPr>
        <p:spPr>
          <a:xfrm>
            <a:off x="1005840" y="2887305"/>
            <a:ext cx="4541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2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So lernt das Gehirn.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1" name="Google Shape;141;p18"/>
          <p:cNvSpPr/>
          <p:nvPr>
            <p:ph type="body" idx="6"/>
          </p:nvPr>
        </p:nvSpPr>
        <p:spPr>
          <a:xfrm>
            <a:off x="1005840" y="3344505"/>
            <a:ext cx="4541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4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Neue Wege im Kopf entstehen durch Wieder­holung und Erleben. Was wir oft genug üben, wird vom Ausnahme­zustand zur neuen Normalität — neuronal mess­bar.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278728" y="2110065"/>
            <a:ext cx="5272800" cy="3657600"/>
          </a:xfrm>
          <a:prstGeom prst="roundRect">
            <a:avLst>
              <a:gd fmla="val 2000" name="adj"/>
            </a:avLst>
          </a:prstGeom>
          <a:solidFill>
            <a:srgbClr val="3A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>
            <p:ph type="body" idx="7"/>
          </p:nvPr>
        </p:nvSpPr>
        <p:spPr>
          <a:xfrm>
            <a:off x="6644488" y="2338665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000" b="1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4" name="Google Shape;144;p18"/>
          <p:cNvSpPr/>
          <p:nvPr>
            <p:ph type="body" idx="8"/>
          </p:nvPr>
        </p:nvSpPr>
        <p:spPr>
          <a:xfrm>
            <a:off x="6644488" y="2887305"/>
            <a:ext cx="4541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200" b="1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So zieht uns das Motiv.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45" name="Google Shape;145;p18"/>
          <p:cNvSpPr/>
          <p:nvPr>
            <p:ph type="body" idx="9"/>
          </p:nvPr>
        </p:nvSpPr>
        <p:spPr>
          <a:xfrm>
            <a:off x="6644488" y="3344505"/>
            <a:ext cx="4541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400">
                <a:solidFill>
                  <a:srgbClr val="E3DDEA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Veränderung ist anstrengend. Sie hält nur, wenn das eigene Motiv stark genug ist — nicht das, was wir wollen sollten, sondern das, was uns ehrlich zieht.</a:t>
            </a:r>
            <a:endParaRPr b="0" i="0" sz="1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09_SECTION_SYSTEMISCH">
  <p:cSld name="09_SECTION_SYSTEMISCH">
    <p:bg>
      <p:bgPr>
        <a:solidFill>
          <a:srgbClr val="EEE9F1"/>
        </a:solidFill>
      </p:bgPr>
    </p:bg>
    <p:spTree>
      <p:nvGrpSpPr>
        <p:cNvPr id="22" name="09_SECTION_SYSTEMISCH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oogle Shape;23;p6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6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descr="/sessions/ecstatic-compassionate-tesla/mnt/outputs/brand/sketch_einzel.png" id="152" name="Google Shape;152;p19"/>
          <p:cNvPicPr preferRelativeResize="0"/>
          <p:nvPr/>
        </p:nvPicPr>
        <p:blipFill rotWithShape="1">
          <a:blip r:embed="rId5">
            <a:alphaModFix amt="28000"/>
          </a:blip>
          <a:srcRect b="0" l="0" r="0" t="0"/>
          <a:stretch/>
        </p:blipFill>
        <p:spPr>
          <a:xfrm>
            <a:off x="9448495" y="7315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type="body" idx="1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09 / 19</a:t>
            </a:r>
            <a:endParaRPr sz="800"/>
          </a:p>
        </p:txBody>
      </p:sp>
      <p:sp>
        <p:nvSpPr>
          <p:cNvPr id="154" name="Google Shape;154;p19"/>
          <p:cNvSpPr/>
          <p:nvPr>
            <p:ph type="body" idx="2"/>
          </p:nvPr>
        </p:nvSpPr>
        <p:spPr>
          <a:xfrm>
            <a:off x="640080" y="3108960"/>
            <a:ext cx="10058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64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6400"/>
              <a:buFont typeface="Manrope"/>
              <a:buNone/>
            </a:pPr>
            <a:r>
              <a:rPr lang="en-US" sz="6400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Systemisch.</a:t>
            </a:r>
            <a:endParaRPr sz="64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6400"/>
              <a:buFont typeface="Manrope"/>
              <a:buNone/>
            </a:pPr>
            <a:r>
              <a:rPr lang="en-US" sz="6400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Lösungsorientiert.</a:t>
            </a:r>
            <a:endParaRPr b="1" sz="7000">
              <a:solidFill>
                <a:srgbClr val="3A314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DU_BIST_KEIN_PROBLEM">
  <p:cSld name="10_DU_BIST_KEIN_PROBLEM">
    <p:bg>
      <p:bgPr>
        <a:solidFill>
          <a:srgbClr val="FCFBFA"/>
        </a:solidFill>
      </p:bgPr>
    </p:bg>
    <p:spTree>
      <p:nvGrpSpPr>
        <p:cNvPr id="15" name="10_DU_BIST_KEIN_PROBLEM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60" name="Google Shape;160;p20"/>
          <p:cNvSpPr/>
          <p:nvPr>
            <p:ph type="body" idx="2"/>
          </p:nvPr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WAS „SYSTEMISCH" BEDEUTET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1" name="Google Shape;161;p20"/>
          <p:cNvSpPr/>
          <p:nvPr>
            <p:ph type="body" idx="3"/>
          </p:nvPr>
        </p:nvSpPr>
        <p:spPr>
          <a:xfrm>
            <a:off x="640080" y="2079585"/>
            <a:ext cx="10058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8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800"/>
              <a:buFont typeface="Manrope"/>
              <a:buNone/>
            </a:pPr>
            <a:r>
              <a:rPr i="0" lang="en-US" sz="48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Du bist nicht das Problem.</a:t>
            </a:r>
            <a:endParaRPr i="0" sz="4800" u="none" cap="none" strike="noStrike">
              <a:solidFill>
                <a:srgbClr val="3A314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lang="en-US" sz="4800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Du bist der Mensch im System.</a:t>
            </a:r>
            <a:endParaRPr sz="4800">
              <a:solidFill>
                <a:srgbClr val="3A314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62" name="Google Shape;162;p20"/>
          <p:cNvSpPr/>
          <p:nvPr>
            <p:ph type="body" idx="4"/>
          </p:nvPr>
        </p:nvSpPr>
        <p:spPr>
          <a:xfrm>
            <a:off x="640080" y="3547110"/>
            <a:ext cx="9601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Systemisches Coaching schaut nicht nur auf dich allein, sondern auf das Zusammen­spiel aus Person, Beziehungen, Rollen und Kontext. Wir suchen die Hebel dort, wo sie wirklich liegen — und arbeiten ressourcen- statt defizit­orientiert.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63" name="Google Shape;163;p20"/>
          <p:cNvSpPr txBox="1"/>
          <p:nvPr>
            <p:ph type="body" idx="5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10 / 19</a:t>
            </a:r>
            <a:endParaRPr sz="80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STEPS_4_COACHING">
  <p:cSld name="11_STEPS_4_COACHING">
    <p:bg>
      <p:bgPr>
        <a:solidFill>
          <a:srgbClr val="FCFBFA"/>
        </a:solidFill>
      </p:bgPr>
    </p:bg>
    <p:spTree>
      <p:nvGrpSpPr>
        <p:cNvPr id="15" name="11_STEPS_4_COACHING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70" name="Google Shape;170;p21"/>
          <p:cNvSpPr/>
          <p:nvPr>
            <p:ph type="body" idx="2"/>
          </p:nvPr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COACHING-ABLAUF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1" name="Google Shape;171;p21"/>
          <p:cNvSpPr/>
          <p:nvPr>
            <p:ph type="body" idx="3"/>
          </p:nvPr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800"/>
              <a:buFont typeface="Manrope"/>
              <a:buNone/>
            </a:pPr>
            <a:r>
              <a:rPr b="1" i="0" lang="en-US" sz="2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In vier Schritten — und in deinem Tempo.</a:t>
            </a:r>
            <a:endParaRPr b="0" i="0" sz="2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640075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>
            <p:ph type="body" idx="4"/>
          </p:nvPr>
        </p:nvSpPr>
        <p:spPr>
          <a:xfrm>
            <a:off x="914400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01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4" name="Google Shape;174;p21"/>
          <p:cNvSpPr/>
          <p:nvPr>
            <p:ph type="body" idx="5"/>
          </p:nvPr>
        </p:nvSpPr>
        <p:spPr>
          <a:xfrm>
            <a:off x="914400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Kennenlernen</a:t>
            </a:r>
            <a:endParaRPr b="0" i="0" sz="1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5" name="Google Shape;175;p21"/>
          <p:cNvSpPr/>
          <p:nvPr>
            <p:ph type="body" idx="6"/>
          </p:nvPr>
        </p:nvSpPr>
        <p:spPr>
          <a:xfrm>
            <a:off x="914400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Kostenfreies Erstgespräch. Wir klären Anliegen, Passung und nächste Schritte.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3436541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>
            <p:ph type="body" idx="7"/>
          </p:nvPr>
        </p:nvSpPr>
        <p:spPr>
          <a:xfrm>
            <a:off x="3710864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02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8" name="Google Shape;178;p21"/>
          <p:cNvSpPr/>
          <p:nvPr>
            <p:ph type="body" idx="8"/>
          </p:nvPr>
        </p:nvSpPr>
        <p:spPr>
          <a:xfrm>
            <a:off x="3710864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Profil</a:t>
            </a:r>
            <a:endParaRPr b="0" i="0" sz="1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79" name="Google Shape;179;p21"/>
          <p:cNvSpPr/>
          <p:nvPr>
            <p:ph type="body" idx="9"/>
          </p:nvPr>
        </p:nvSpPr>
        <p:spPr>
          <a:xfrm>
            <a:off x="3710866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Wir erfassen dein Resilienz-Profil — was trägt, was klemmt, wo liegt der Hebel.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6233008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>
            <p:ph type="body" idx="10"/>
          </p:nvPr>
        </p:nvSpPr>
        <p:spPr>
          <a:xfrm>
            <a:off x="6507328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03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2" name="Google Shape;182;p21"/>
          <p:cNvSpPr/>
          <p:nvPr>
            <p:ph type="body" idx="11"/>
          </p:nvPr>
        </p:nvSpPr>
        <p:spPr>
          <a:xfrm>
            <a:off x="6507328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Methoden­koffer</a:t>
            </a:r>
            <a:endParaRPr b="0" i="0" sz="1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3" name="Google Shape;183;p21"/>
          <p:cNvSpPr/>
          <p:nvPr>
            <p:ph type="body" idx="12"/>
          </p:nvPr>
        </p:nvSpPr>
        <p:spPr>
          <a:xfrm>
            <a:off x="6507333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Schritt für Schritt entsteht dein persönlicher Werkzeug­satz für den Alltag.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9029473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>
            <p:ph type="body" idx="13"/>
          </p:nvPr>
        </p:nvSpPr>
        <p:spPr>
          <a:xfrm>
            <a:off x="9303791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04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6" name="Google Shape;186;p21"/>
          <p:cNvSpPr/>
          <p:nvPr>
            <p:ph type="body" idx="14"/>
          </p:nvPr>
        </p:nvSpPr>
        <p:spPr>
          <a:xfrm>
            <a:off x="9303791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Integration</a:t>
            </a:r>
            <a:endParaRPr b="0" i="0" sz="1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7" name="Google Shape;187;p21"/>
          <p:cNvSpPr/>
          <p:nvPr>
            <p:ph type="body" idx="15"/>
          </p:nvPr>
        </p:nvSpPr>
        <p:spPr>
          <a:xfrm>
            <a:off x="9303798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Wir üben, übertragen, justieren — bis Neues vom Versuch zur Routine wird.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188" name="Google Shape;188;p21"/>
          <p:cNvSpPr txBox="1"/>
          <p:nvPr>
            <p:ph type="body" idx="16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11 / 19</a:t>
            </a:r>
            <a:endParaRPr sz="8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SECTION_ANGEBOT">
  <p:cSld name="12_SECTION_ANGEBOT">
    <p:bg>
      <p:bgPr>
        <a:solidFill>
          <a:srgbClr val="3A3142"/>
        </a:solidFill>
      </p:bgPr>
    </p:bg>
    <p:spTree>
      <p:nvGrpSpPr>
        <p:cNvPr id="28" name="12_SECTION_ANGEBO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8" title="FA_Logo_signet_02_Tinte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8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C2BCC0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C2BCC0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descr="/sessions/ecstatic-compassionate-tesla/mnt/outputs/brand/sketch_einzel_light.png" id="195" name="Google Shape;195;p22"/>
          <p:cNvPicPr preferRelativeResize="0"/>
          <p:nvPr/>
        </p:nvPicPr>
        <p:blipFill rotWithShape="1">
          <a:blip r:embed="rId5">
            <a:alphaModFix amt="28000"/>
          </a:blip>
          <a:srcRect b="0" l="0" r="0" t="0"/>
          <a:stretch/>
        </p:blipFill>
        <p:spPr>
          <a:xfrm>
            <a:off x="8899855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prozess_light.png" id="196" name="Google Shape;196;p22"/>
          <p:cNvPicPr preferRelativeResize="0"/>
          <p:nvPr/>
        </p:nvPicPr>
        <p:blipFill rotWithShape="1">
          <a:blip r:embed="rId6">
            <a:alphaModFix amt="28000"/>
          </a:blip>
          <a:srcRect b="0" l="0" r="0" t="0"/>
          <a:stretch/>
        </p:blipFill>
        <p:spPr>
          <a:xfrm>
            <a:off x="9997135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gruppe_light.png" id="197" name="Google Shape;197;p22"/>
          <p:cNvPicPr preferRelativeResize="0"/>
          <p:nvPr/>
        </p:nvPicPr>
        <p:blipFill rotWithShape="1">
          <a:blip r:embed="rId7">
            <a:alphaModFix amt="28000"/>
          </a:blip>
          <a:srcRect b="0" l="0" r="0" t="0"/>
          <a:stretch/>
        </p:blipFill>
        <p:spPr>
          <a:xfrm>
            <a:off x="11094415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>
            <p:ph type="body" idx="1"/>
          </p:nvPr>
        </p:nvSpPr>
        <p:spPr>
          <a:xfrm>
            <a:off x="640080" y="310896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70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7000"/>
              <a:buFont typeface="Manrope"/>
              <a:buNone/>
            </a:pPr>
            <a:r>
              <a:rPr i="0" lang="en-US" sz="7000" u="none" cap="none" strike="noStrike">
                <a:solidFill>
                  <a:srgbClr val="FCFBF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Mein</a:t>
            </a:r>
            <a:r>
              <a:rPr b="1" i="0" lang="en-US" sz="70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0" lang="en-US" sz="70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Angebot.</a:t>
            </a:r>
            <a:endParaRPr i="0" sz="70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99" name="Google Shape;199;p22"/>
          <p:cNvSpPr/>
          <p:nvPr>
            <p:ph type="body" idx="2"/>
          </p:nvPr>
        </p:nvSpPr>
        <p:spPr>
          <a:xfrm>
            <a:off x="640080" y="47548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800">
                <a:solidFill>
                  <a:srgbClr val="E3DDEA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1800"/>
              <a:buFont typeface="Manrope"/>
              <a:buNone/>
            </a:pPr>
            <a:r>
              <a:rPr b="0" lang="en-US" sz="18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Einzeln, im Team oder in der Gruppe — drei Wege, ein Ziel: getragene Resilienz.</a:t>
            </a:r>
            <a:endParaRPr b="0" sz="1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ARDS_3_FORMATE">
  <p:cSld name="13_CARDS_3_FORMATE">
    <p:bg>
      <p:bgPr>
        <a:solidFill>
          <a:srgbClr val="FCFBFA"/>
        </a:solidFill>
      </p:bgPr>
    </p:bg>
    <p:spTree>
      <p:nvGrpSpPr>
        <p:cNvPr id="15" name="13_CARDS_3_FORMAT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05" name="Google Shape;205;p23"/>
          <p:cNvSpPr/>
          <p:nvPr>
            <p:ph type="body" idx="2"/>
          </p:nvPr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DREI FORMATE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6" name="Google Shape;206;p23"/>
          <p:cNvSpPr/>
          <p:nvPr>
            <p:ph type="body" idx="3"/>
          </p:nvPr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8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800"/>
              <a:buFont typeface="Manrope"/>
              <a:buNone/>
            </a:pPr>
            <a:r>
              <a:rPr b="1" i="0" lang="en-US" sz="2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Für Privat­personen, Teams und Gruppen.</a:t>
            </a:r>
            <a:endParaRPr b="0" i="0" sz="28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640080" y="1828800"/>
            <a:ext cx="3454200" cy="4114800"/>
          </a:xfrm>
          <a:prstGeom prst="roundRect">
            <a:avLst>
              <a:gd fmla="val 2118" name="adj"/>
            </a:avLst>
          </a:prstGeom>
          <a:solidFill>
            <a:srgbClr val="FCFBFA"/>
          </a:solidFill>
          <a:ln cap="flat" cmpd="sng" w="12700">
            <a:solidFill>
              <a:srgbClr val="E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cstatic-compassionate-tesla/mnt/outputs/brand/sketch_einzel.png" id="208" name="Google Shape;208;p23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3149498" y="19507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/>
          <p:nvPr>
            <p:ph type="body" idx="4"/>
          </p:nvPr>
        </p:nvSpPr>
        <p:spPr>
          <a:xfrm>
            <a:off x="914400" y="2240280"/>
            <a:ext cx="208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9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9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B2C / B2B</a:t>
            </a:r>
            <a:endParaRPr b="0" i="0" sz="9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0" name="Google Shape;210;p23"/>
          <p:cNvSpPr/>
          <p:nvPr>
            <p:ph type="body" idx="5"/>
          </p:nvPr>
        </p:nvSpPr>
        <p:spPr>
          <a:xfrm>
            <a:off x="914400" y="2682240"/>
            <a:ext cx="290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2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Einzel-Coaching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1" name="Google Shape;211;p23"/>
          <p:cNvSpPr/>
          <p:nvPr>
            <p:ph type="body" idx="6"/>
          </p:nvPr>
        </p:nvSpPr>
        <p:spPr>
          <a:xfrm>
            <a:off x="914400" y="3337560"/>
            <a:ext cx="290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Persönlich und individuell. Für berufliche und private Themen rund um Resilienz und mentale Gesundheit.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2" name="Google Shape;212;p23"/>
          <p:cNvSpPr/>
          <p:nvPr>
            <p:ph type="body" idx="7"/>
          </p:nvPr>
        </p:nvSpPr>
        <p:spPr>
          <a:xfrm>
            <a:off x="914400" y="4709160"/>
            <a:ext cx="290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00">
                <a:solidFill>
                  <a:srgbClr val="3A3142"/>
                </a:solidFill>
                <a:latin typeface="Manrope"/>
              </a:defRPr>
            </a:lvl1pPr>
          </a:lstStyle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90 Min. pro Sitzung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5–10 Sitzungen Richtwert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Vor Ort in München · online deutschlandweit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4368698" y="1828800"/>
            <a:ext cx="3454200" cy="4114800"/>
          </a:xfrm>
          <a:prstGeom prst="roundRect">
            <a:avLst>
              <a:gd fmla="val 2118" name="adj"/>
            </a:avLst>
          </a:prstGeom>
          <a:solidFill>
            <a:srgbClr val="FCFBFA"/>
          </a:solidFill>
          <a:ln cap="flat" cmpd="sng" w="12700">
            <a:solidFill>
              <a:srgbClr val="E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cstatic-compassionate-tesla/mnt/outputs/brand/sketch_prozess.png" id="214" name="Google Shape;214;p23"/>
          <p:cNvPicPr preferRelativeResize="0"/>
          <p:nvPr/>
        </p:nvPicPr>
        <p:blipFill rotWithShape="1">
          <a:blip r:embed="rId6">
            <a:alphaModFix amt="70000"/>
          </a:blip>
          <a:srcRect b="0" l="0" r="0" t="0"/>
          <a:stretch/>
        </p:blipFill>
        <p:spPr>
          <a:xfrm>
            <a:off x="6725617" y="17602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/>
          <p:nvPr>
            <p:ph type="body" idx="8"/>
          </p:nvPr>
        </p:nvSpPr>
        <p:spPr>
          <a:xfrm>
            <a:off x="4643018" y="2240280"/>
            <a:ext cx="208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9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9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B2B</a:t>
            </a:r>
            <a:endParaRPr b="0" i="0" sz="9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6" name="Google Shape;216;p23"/>
          <p:cNvSpPr/>
          <p:nvPr>
            <p:ph type="body" idx="9"/>
          </p:nvPr>
        </p:nvSpPr>
        <p:spPr>
          <a:xfrm>
            <a:off x="4643018" y="2682240"/>
            <a:ext cx="290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2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Workshops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7" name="Google Shape;217;p23"/>
          <p:cNvSpPr/>
          <p:nvPr>
            <p:ph type="body" idx="10"/>
          </p:nvPr>
        </p:nvSpPr>
        <p:spPr>
          <a:xfrm>
            <a:off x="4643018" y="3337560"/>
            <a:ext cx="290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Für Teams und Organisationen, die Stress­management und Mentalgesundheit konkret angehen wollen.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8" name="Google Shape;218;p23"/>
          <p:cNvSpPr/>
          <p:nvPr>
            <p:ph type="body" idx="11"/>
          </p:nvPr>
        </p:nvSpPr>
        <p:spPr>
          <a:xfrm>
            <a:off x="4643018" y="4709160"/>
            <a:ext cx="290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00">
                <a:solidFill>
                  <a:srgbClr val="3A3142"/>
                </a:solidFill>
                <a:latin typeface="Manrope"/>
              </a:defRPr>
            </a:lvl1pPr>
          </a:lstStyle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Halb- oder ganztägig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Format auf das Team abgestimmt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Praxis statt PowerPoint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8097317" y="1828800"/>
            <a:ext cx="3454200" cy="4114800"/>
          </a:xfrm>
          <a:prstGeom prst="roundRect">
            <a:avLst>
              <a:gd fmla="val 2118" name="adj"/>
            </a:avLst>
          </a:prstGeom>
          <a:solidFill>
            <a:srgbClr val="FCFBFA"/>
          </a:solidFill>
          <a:ln cap="flat" cmpd="sng" w="12700">
            <a:solidFill>
              <a:srgbClr val="E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cstatic-compassionate-tesla/mnt/outputs/brand/sketch_gruppe.png" id="220" name="Google Shape;220;p23"/>
          <p:cNvPicPr preferRelativeResize="0"/>
          <p:nvPr/>
        </p:nvPicPr>
        <p:blipFill rotWithShape="1">
          <a:blip r:embed="rId7">
            <a:alphaModFix amt="70000"/>
          </a:blip>
          <a:srcRect b="0" l="0" r="0" t="0"/>
          <a:stretch/>
        </p:blipFill>
        <p:spPr>
          <a:xfrm>
            <a:off x="10606735" y="19507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>
            <p:ph type="body" idx="12"/>
          </p:nvPr>
        </p:nvSpPr>
        <p:spPr>
          <a:xfrm>
            <a:off x="8371637" y="2240280"/>
            <a:ext cx="208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9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9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B2C</a:t>
            </a:r>
            <a:endParaRPr b="0" i="0" sz="9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2" name="Google Shape;222;p23"/>
          <p:cNvSpPr/>
          <p:nvPr>
            <p:ph type="body" idx="13"/>
          </p:nvPr>
        </p:nvSpPr>
        <p:spPr>
          <a:xfrm>
            <a:off x="8371637" y="2682240"/>
            <a:ext cx="290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2200" b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Gruppen-Coaching</a:t>
            </a:r>
            <a:endParaRPr b="0" i="0" sz="2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3" name="Google Shape;223;p23"/>
          <p:cNvSpPr/>
          <p:nvPr>
            <p:ph type="body" idx="14"/>
          </p:nvPr>
        </p:nvSpPr>
        <p:spPr>
          <a:xfrm>
            <a:off x="8371637" y="3337560"/>
            <a:ext cx="290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Im kleinen Kreis lernen, üben, sich austauschen — gemeinsam wächst es leichter.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24" name="Google Shape;224;p23"/>
          <p:cNvSpPr/>
          <p:nvPr>
            <p:ph type="body" idx="15"/>
          </p:nvPr>
        </p:nvSpPr>
        <p:spPr>
          <a:xfrm>
            <a:off x="8371637" y="4709160"/>
            <a:ext cx="290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100">
                <a:solidFill>
                  <a:srgbClr val="3A3142"/>
                </a:solidFill>
                <a:latin typeface="Manrope"/>
              </a:defRPr>
            </a:lvl1pPr>
          </a:lstStyle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4–8 Teilnehmer:innen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6–8 Termine im Block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Wochentag­abende oder Samstage</a:t>
            </a:r>
            <a:endParaRPr b="0" i="0" sz="11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PORTRAIT_BIO">
  <p:cSld name="14_PORTRAIT_BIO">
    <p:bg>
      <p:bgPr>
        <a:solidFill>
          <a:srgbClr val="FCFBFA"/>
        </a:solidFill>
      </p:bgPr>
    </p:bg>
    <p:spTree>
      <p:nvGrpSpPr>
        <p:cNvPr id="15" name="14_PORTRAIT_BIO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pic>
        <p:nvPicPr>
          <p:cNvPr id="231" name="Google Shape;231;p24" title="friederike-hero.jpg"/>
          <p:cNvPicPr preferRelativeResize="0"/>
          <p:nvPr/>
        </p:nvPicPr>
        <p:blipFill rotWithShape="1">
          <a:blip r:embed="rId5">
            <a:alphaModFix/>
          </a:blip>
          <a:srcRect b="4579" l="0" r="0" t="4570"/>
          <a:stretch/>
        </p:blipFill>
        <p:spPr>
          <a:xfrm>
            <a:off x="0" y="0"/>
            <a:ext cx="50291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>
            <p:ph type="body" idx="2"/>
          </p:nvPr>
        </p:nvSpPr>
        <p:spPr>
          <a:xfrm>
            <a:off x="5669280" y="1051555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WER ICH BIN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3" name="Google Shape;233;p24"/>
          <p:cNvSpPr/>
          <p:nvPr>
            <p:ph type="body" idx="3"/>
          </p:nvPr>
        </p:nvSpPr>
        <p:spPr>
          <a:xfrm>
            <a:off x="5669280" y="2240275"/>
            <a:ext cx="588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300"/>
              <a:buFont typeface="Manrope"/>
              <a:buNone/>
            </a:pPr>
            <a:r>
              <a:rPr b="0" lang="en-US" sz="16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Systemischer Coach · Resilienz &amp; mentale Gesundheit</a:t>
            </a:r>
            <a:endParaRPr b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4" name="Google Shape;234;p24"/>
          <p:cNvSpPr/>
          <p:nvPr>
            <p:ph type="body" idx="4"/>
          </p:nvPr>
        </p:nvSpPr>
        <p:spPr>
          <a:xfrm>
            <a:off x="5669280" y="2811745"/>
            <a:ext cx="58824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300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Ich arbeite mit Menschen, die spüren, dass es so nicht weitergeht — und die bereit sind, etwas zu verändern. Was ich mitbringe: eine fundierte Ausbildung im systemisch-lösungs­orientierten Coaching, jahrelange Berufs­erfahrung — und die eigene Erfahrung als Mutter, Selbstständige und Mensch, der weiß, wie sich Erschöpfung anfühlt.</a:t>
            </a:r>
            <a:endParaRPr b="0" i="0" sz="13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5" name="Google Shape;235;p24"/>
          <p:cNvSpPr/>
          <p:nvPr>
            <p:ph type="body" idx="5"/>
          </p:nvPr>
        </p:nvSpPr>
        <p:spPr>
          <a:xfrm>
            <a:off x="5669280" y="5120500"/>
            <a:ext cx="58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i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200"/>
              <a:buFont typeface="Manrope"/>
              <a:buNone/>
            </a:pPr>
            <a:r>
              <a:rPr b="0" i="1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Mein Versprechen: kein Programm von der Stange. Sondern echter Raum für das, was bei dir dran ist.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36" name="Google Shape;236;p24"/>
          <p:cNvSpPr txBox="1"/>
          <p:nvPr>
            <p:ph type="body" idx="6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16 / 19</a:t>
            </a:r>
            <a:endParaRPr sz="800"/>
          </a:p>
        </p:txBody>
      </p:sp>
      <p:pic>
        <p:nvPicPr>
          <p:cNvPr id="238" name="Google Shape;238;p24" title="FA_Logo_horizontal_01_Flieder50.png"/>
          <p:cNvPicPr preferRelativeResize="0"/>
          <p:nvPr/>
        </p:nvPicPr>
        <p:blipFill rotWithShape="1">
          <a:blip r:embed="rId6">
            <a:alphaModFix/>
          </a:blip>
          <a:srcRect b="35048" l="0" r="0" t="0"/>
          <a:stretch/>
        </p:blipFill>
        <p:spPr>
          <a:xfrm>
            <a:off x="5440550" y="1389751"/>
            <a:ext cx="5715124" cy="8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QUOTE">
  <p:cSld name="15_QUOTE">
    <p:bg>
      <p:bgPr>
        <a:solidFill>
          <a:srgbClr val="FCFBFA"/>
        </a:solidFill>
      </p:bgPr>
    </p:bg>
    <p:spTree>
      <p:nvGrpSpPr>
        <p:cNvPr id="15" name="15_QUOTE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 title="FA_Logo_signet_01_Flieder50.png"/>
          <p:cNvPicPr preferRelativeResize="0"/>
          <p:nvPr/>
        </p:nvPicPr>
        <p:blipFill rotWithShape="1">
          <a:blip r:embed="rId2">
            <a:alphaModFix/>
          </a:blip>
          <a:srcRect b="8005" l="0" r="0" t="7997"/>
          <a:stretch/>
        </p:blipFill>
        <p:spPr>
          <a:xfrm>
            <a:off x="367030" y="6119622"/>
            <a:ext cx="457200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algn="r">
              <a:spcBef>
                <a:spcPts val="16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  <a:defRPr b="0" i="0" sz="11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Char char="–"/>
              <a:defRPr b="0" i="0" sz="2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"/>
              <a:buChar char="•"/>
              <a:defRPr b="0" i="0" sz="24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–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»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nrope"/>
              <a:buChar char="•"/>
              <a:defRPr b="0" i="0" sz="20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44" name="Google Shape;244;p25"/>
          <p:cNvSpPr/>
          <p:nvPr>
            <p:ph type="body" idx="2"/>
          </p:nvPr>
        </p:nvSpPr>
        <p:spPr>
          <a:xfrm>
            <a:off x="640080" y="109728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20000">
                <a:solidFill>
                  <a:srgbClr val="E8A33D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0"/>
              <a:buFont typeface="Georgia"/>
              <a:buNone/>
            </a:pPr>
            <a:r>
              <a:rPr b="0" i="0" lang="en-US" sz="20000" u="none" cap="none" strike="noStrike">
                <a:solidFill>
                  <a:srgbClr val="E8A33D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b="0" i="0" sz="20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5" name="Google Shape;245;p25"/>
          <p:cNvSpPr/>
          <p:nvPr>
            <p:ph type="body" idx="3"/>
          </p:nvPr>
        </p:nvSpPr>
        <p:spPr>
          <a:xfrm>
            <a:off x="640080" y="2743200"/>
            <a:ext cx="1091153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4400" i="1">
                <a:solidFill>
                  <a:srgbClr val="3A3142"/>
                </a:solidFill>
                <a:latin typeface="Manrope"/>
              </a:defRPr>
            </a:lvl1pPr>
          </a:lstStyle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400"/>
              <a:buFont typeface="Manrope"/>
              <a:buNone/>
            </a:pPr>
            <a:r>
              <a:rPr b="0" i="1" lang="en-US" sz="44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Resilienz ist trainierbar — und kein Schicksal.</a:t>
            </a:r>
            <a:endParaRPr b="0" i="0" sz="4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6" name="Google Shape;246;p25"/>
          <p:cNvSpPr/>
          <p:nvPr>
            <p:ph type="body" idx="4"/>
          </p:nvPr>
        </p:nvSpPr>
        <p:spPr>
          <a:xfrm>
            <a:off x="640080" y="530352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000" b="1">
                <a:solidFill>
                  <a:srgbClr val="5F4F75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FRIEDERIKE ALTMANN · KERN­SATZ MEINER ARBEIT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47" name="Google Shape;247;p25"/>
          <p:cNvSpPr txBox="1"/>
          <p:nvPr>
            <p:ph type="body" idx="5"/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>
              <a:defRPr sz="800">
                <a:solidFill>
                  <a:srgbClr val="6B6470"/>
                </a:solidFill>
                <a:latin typeface="Manrope"/>
              </a:defRPr>
            </a:lvl1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17 / 19</a:t>
            </a:r>
            <a:endParaRPr sz="80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CONTACT">
  <p:cSld name="16_CONTACT">
    <p:bg>
      <p:bgPr>
        <a:solidFill>
          <a:srgbClr val="3A3142"/>
        </a:solidFill>
      </p:bgPr>
    </p:bg>
    <p:spTree>
      <p:nvGrpSpPr>
        <p:cNvPr id="31" name="16_CONTACT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sketch_einzel_light.png" id="32" name="Google Shape;32;p9"/>
          <p:cNvPicPr preferRelativeResize="0"/>
          <p:nvPr/>
        </p:nvPicPr>
        <p:blipFill rotWithShape="1">
          <a:blip r:embed="rId2">
            <a:alphaModFix amt="22000"/>
          </a:blip>
          <a:srcRect b="0" l="0" r="0" t="0"/>
          <a:stretch/>
        </p:blipFill>
        <p:spPr>
          <a:xfrm>
            <a:off x="8004945" y="845250"/>
            <a:ext cx="155448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prozess_light.png" id="33" name="Google Shape;33;p9"/>
          <p:cNvPicPr preferRelativeResize="0"/>
          <p:nvPr/>
        </p:nvPicPr>
        <p:blipFill rotWithShape="1">
          <a:blip r:embed="rId3">
            <a:alphaModFix amt="22000"/>
          </a:blip>
          <a:srcRect b="0" l="0" r="0" t="0"/>
          <a:stretch/>
        </p:blipFill>
        <p:spPr>
          <a:xfrm>
            <a:off x="9894535" y="1046195"/>
            <a:ext cx="1554480" cy="1554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gruppe_light.png" id="34" name="Google Shape;34;p9"/>
          <p:cNvPicPr preferRelativeResize="0"/>
          <p:nvPr/>
        </p:nvPicPr>
        <p:blipFill rotWithShape="1">
          <a:blip r:embed="rId4">
            <a:alphaModFix amt="22000"/>
          </a:blip>
          <a:srcRect b="0" l="0" r="0" t="0"/>
          <a:stretch/>
        </p:blipFill>
        <p:spPr>
          <a:xfrm>
            <a:off x="8340045" y="3032345"/>
            <a:ext cx="1554480" cy="155448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6"/>
          <p:cNvSpPr/>
          <p:nvPr>
            <p:ph type="body" idx="1"/>
          </p:nvPr>
        </p:nvSpPr>
        <p:spPr>
          <a:xfrm>
            <a:off x="640080" y="2743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200" b="1">
                <a:solidFill>
                  <a:srgbClr val="E3DDE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DANKE — UND BIS BALD.</a:t>
            </a:r>
            <a:endParaRPr b="0" i="0" sz="12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5" name="Google Shape;255;p26"/>
          <p:cNvSpPr/>
          <p:nvPr>
            <p:ph type="body" idx="2"/>
          </p:nvPr>
        </p:nvSpPr>
        <p:spPr>
          <a:xfrm>
            <a:off x="640080" y="31546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64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6400"/>
              <a:buFont typeface="Manrope"/>
              <a:buNone/>
            </a:pPr>
            <a:r>
              <a:rPr i="0" lang="en-US" sz="6400" u="none" cap="none" strike="noStrike">
                <a:solidFill>
                  <a:srgbClr val="FCFBFA"/>
                </a:solidFill>
                <a:latin typeface="Manrope Light"/>
                <a:ea typeface="Manrope Light"/>
                <a:cs typeface="Manrope Light"/>
                <a:sym typeface="Manrope Light"/>
              </a:rPr>
              <a:t>Lass uns</a:t>
            </a:r>
            <a:r>
              <a:rPr b="1" i="0" lang="en-US" sz="6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64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reden.</a:t>
            </a:r>
            <a:endParaRPr b="0" i="0" sz="64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6" name="Google Shape;256;p26"/>
          <p:cNvSpPr/>
          <p:nvPr>
            <p:ph type="body" idx="3"/>
          </p:nvPr>
        </p:nvSpPr>
        <p:spPr>
          <a:xfrm>
            <a:off x="640080" y="50292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000" b="1">
                <a:solidFill>
                  <a:srgbClr val="BDB0CC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MAIL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7" name="Google Shape;257;p26"/>
          <p:cNvSpPr/>
          <p:nvPr>
            <p:ph type="body" idx="4"/>
          </p:nvPr>
        </p:nvSpPr>
        <p:spPr>
          <a:xfrm>
            <a:off x="1920240" y="5029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post@friederikealtmann.de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8" name="Google Shape;258;p26"/>
          <p:cNvSpPr/>
          <p:nvPr>
            <p:ph type="body" idx="5"/>
          </p:nvPr>
        </p:nvSpPr>
        <p:spPr>
          <a:xfrm>
            <a:off x="640080" y="5486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000" b="1">
                <a:solidFill>
                  <a:srgbClr val="BDB0CC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MOBIL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59" name="Google Shape;259;p26"/>
          <p:cNvSpPr/>
          <p:nvPr>
            <p:ph type="body" idx="6"/>
          </p:nvPr>
        </p:nvSpPr>
        <p:spPr>
          <a:xfrm>
            <a:off x="1920240" y="5486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+49 178 28 05 138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0" name="Google Shape;260;p26"/>
          <p:cNvSpPr/>
          <p:nvPr>
            <p:ph type="body" idx="7"/>
          </p:nvPr>
        </p:nvSpPr>
        <p:spPr>
          <a:xfrm>
            <a:off x="640080" y="5943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000" b="1">
                <a:solidFill>
                  <a:srgbClr val="BDB0CC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WEB</a:t>
            </a:r>
            <a:endParaRPr b="0" i="0" sz="10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261" name="Google Shape;261;p26"/>
          <p:cNvSpPr/>
          <p:nvPr>
            <p:ph type="body" idx="8"/>
          </p:nvPr>
        </p:nvSpPr>
        <p:spPr>
          <a:xfrm>
            <a:off x="1920240" y="5943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>
              <a:defRPr sz="1600">
                <a:solidFill>
                  <a:srgbClr val="FCFBFA"/>
                </a:solidFill>
                <a:latin typeface="Manrope"/>
              </a:defRPr>
            </a:lvl1pPr>
          </a:lstStyle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www.friederikealtmann.de</a:t>
            </a:r>
            <a:endParaRPr b="0" i="0" sz="1600" u="none" cap="none" strike="noStrike">
              <a:solidFill>
                <a:schemeClr val="dk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Manrope"/>
        <a:defRPr b="0" i="0" sz="1400" u="none" cap="none" strike="noStrike">
          <a:solidFill>
            <a:srgbClr val="000000"/>
          </a:solidFill>
          <a:latin typeface="Manrope"/>
          <a:ea typeface="Manrope"/>
          <a:cs typeface="Manrope"/>
          <a:sym typeface="Manrope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4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Relationship Id="rId4" Type="http://schemas.openxmlformats.org/officeDocument/2006/relationships/image" Target="../media/image18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640074" y="2906875"/>
            <a:ext cx="112833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6400"/>
              <a:buFont typeface="Manrope"/>
              <a:buNone/>
            </a:pPr>
            <a:r>
              <a:rPr i="0" lang="en-US" sz="64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Resilienz.</a:t>
            </a:r>
            <a:endParaRPr i="0" sz="64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6400"/>
              <a:buFont typeface="Manrope"/>
              <a:buNone/>
            </a:pPr>
            <a:r>
              <a:rPr i="0" lang="en-US" sz="6400" u="none" cap="none" strike="noStrike">
                <a:solidFill>
                  <a:srgbClr val="FCFBF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Trainierbar,nicht </a:t>
            </a:r>
            <a:r>
              <a:rPr i="0" lang="en-US" sz="64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Schicksal.</a:t>
            </a:r>
            <a:endParaRPr i="0" sz="64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42" name="Google Shape;42;p11"/>
          <p:cNvSpPr/>
          <p:nvPr/>
        </p:nvSpPr>
        <p:spPr>
          <a:xfrm>
            <a:off x="640080" y="5650075"/>
            <a:ext cx="9144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1100"/>
              <a:buFont typeface="Manrope"/>
              <a:buNone/>
            </a:pPr>
            <a:r>
              <a:rPr lang="en-US" sz="2000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SYSTEMISCHES</a:t>
            </a:r>
            <a:r>
              <a:rPr lang="en-US" sz="2000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 COACHING </a:t>
            </a:r>
            <a:r>
              <a:rPr i="0" lang="en-US" sz="2000" u="none" cap="none" strike="noStrike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· R</a:t>
            </a:r>
            <a:r>
              <a:rPr lang="en-US" sz="2000">
                <a:solidFill>
                  <a:srgbClr val="E3DDE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ESILIENZ &amp; MENTALE GESUNDHEIT</a:t>
            </a:r>
            <a:endParaRPr i="0" sz="2000" u="none" cap="none" strike="noStrike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/>
          <p:nvPr/>
        </p:nvSpPr>
        <p:spPr>
          <a:xfrm>
            <a:off x="64008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01 · STRESS-REPORT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2"/>
          <p:cNvSpPr/>
          <p:nvPr/>
        </p:nvSpPr>
        <p:spPr>
          <a:xfrm>
            <a:off x="640080" y="1909463"/>
            <a:ext cx="10058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6000"/>
              <a:buFont typeface="Manrope"/>
              <a:buNone/>
            </a:pPr>
            <a:r>
              <a:rPr i="0" lang="en-US" sz="60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Deutschland ist</a:t>
            </a:r>
            <a:r>
              <a:rPr b="1" i="0" lang="en-US" sz="6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0" lang="en-US" sz="60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müde.</a:t>
            </a:r>
            <a:endParaRPr i="0" sz="60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50" name="Google Shape;50;p12"/>
          <p:cNvSpPr/>
          <p:nvPr/>
        </p:nvSpPr>
        <p:spPr>
          <a:xfrm>
            <a:off x="640080" y="3646845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0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Mentale Belastung ist keine Randerscheinung mehr. Sie betrifft die Mehrheit der Beschäftigten, prägt Krankenstände und kostet Unternehmen jedes Jahr Milliarden — leise, aber konsequent.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2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2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1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640080" y="640080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ZAHLEN, DATEN, FAKTEN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640080" y="1097280"/>
            <a:ext cx="10058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4400"/>
              <a:buFont typeface="Manrope"/>
              <a:buNone/>
            </a:pPr>
            <a:r>
              <a:rPr b="1" i="0" lang="en-US" sz="4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Was uns die Reports sagen.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640080" y="2743200"/>
            <a:ext cx="36600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914400" y="2697480"/>
            <a:ext cx="318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80 %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914400" y="3749040"/>
            <a:ext cx="3180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der Arbeitnehmer:innen fühlen sich gestresst.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13"/>
          <p:cNvSpPr/>
          <p:nvPr/>
        </p:nvSpPr>
        <p:spPr>
          <a:xfrm>
            <a:off x="914400" y="5029200"/>
            <a:ext cx="318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800"/>
              <a:buFont typeface="Manrope"/>
              <a:buNone/>
            </a:pPr>
            <a:r>
              <a:rPr b="1" i="0" lang="en-US" sz="12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TK Stressstudie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/>
          <p:nvPr/>
        </p:nvSpPr>
        <p:spPr>
          <a:xfrm>
            <a:off x="4368698" y="2743200"/>
            <a:ext cx="36600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/>
          <p:nvPr/>
        </p:nvSpPr>
        <p:spPr>
          <a:xfrm>
            <a:off x="4643018" y="2697480"/>
            <a:ext cx="318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13 %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/>
          <p:nvPr/>
        </p:nvSpPr>
        <p:spPr>
          <a:xfrm>
            <a:off x="4643018" y="3749040"/>
            <a:ext cx="3180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aller Arbeitsunfähigkeitstage gehen auf psychische Erkrankungen zurück.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3"/>
          <p:cNvSpPr/>
          <p:nvPr/>
        </p:nvSpPr>
        <p:spPr>
          <a:xfrm>
            <a:off x="4643018" y="5029200"/>
            <a:ext cx="318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800"/>
              <a:buFont typeface="Manrope"/>
              <a:buNone/>
            </a:pPr>
            <a:r>
              <a:rPr b="1" i="0" lang="en-US" sz="12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TK Gesundheitsreport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/>
          <p:nvPr/>
        </p:nvSpPr>
        <p:spPr>
          <a:xfrm>
            <a:off x="8097317" y="2743200"/>
            <a:ext cx="36600" cy="27432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3"/>
          <p:cNvSpPr/>
          <p:nvPr/>
        </p:nvSpPr>
        <p:spPr>
          <a:xfrm>
            <a:off x="8371637" y="2697480"/>
            <a:ext cx="31800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b="1" i="0" lang="en-US" sz="48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87 Mrd. €</a:t>
            </a:r>
            <a:endParaRPr b="0" i="0" sz="4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8371637" y="3749040"/>
            <a:ext cx="31800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jährliche Kosten durch Stress und psychische Belastung in Deutschland.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/>
          <p:nvPr/>
        </p:nvSpPr>
        <p:spPr>
          <a:xfrm>
            <a:off x="8371637" y="5029200"/>
            <a:ext cx="3180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800"/>
              <a:buFont typeface="Manrope"/>
              <a:buNone/>
            </a:pPr>
            <a:r>
              <a:rPr b="1" i="0" lang="en-US" sz="12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BAuA / WHO Schätzung</a:t>
            </a:r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room-window.jpg" id="77" name="Google Shape;7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0292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4"/>
          <p:cNvSpPr/>
          <p:nvPr/>
        </p:nvSpPr>
        <p:spPr>
          <a:xfrm>
            <a:off x="56692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02 · BEGRIFFSKLÄRUNG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4"/>
          <p:cNvSpPr/>
          <p:nvPr/>
        </p:nvSpPr>
        <p:spPr>
          <a:xfrm>
            <a:off x="5669280" y="1051560"/>
            <a:ext cx="5943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400"/>
              <a:buFont typeface="Manrope"/>
              <a:buNone/>
            </a:pPr>
            <a:r>
              <a:rPr i="0" lang="en-US" sz="44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Resilienz —</a:t>
            </a:r>
            <a:endParaRPr i="0" sz="4400" u="none" cap="none" strike="noStrike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400"/>
              <a:buFont typeface="Manrope"/>
              <a:buNone/>
            </a:pPr>
            <a:r>
              <a:rPr i="0" lang="en-US" sz="44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noch so ein </a:t>
            </a:r>
            <a:r>
              <a:rPr lang="en-US" sz="44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Modewort?</a:t>
            </a:r>
            <a:endParaRPr sz="44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80" name="Google Shape;80;p14"/>
          <p:cNvSpPr/>
          <p:nvPr/>
        </p:nvSpPr>
        <p:spPr>
          <a:xfrm>
            <a:off x="5669280" y="3337560"/>
            <a:ext cx="5943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Resilienz ist die Fähigkeit, mit Belastungen so umzugehen, dass wir handlungs­fähig, gesund und in Verbindung mit uns selbst bleiben — und nach Krisen wieder ins Gleich­gewicht finden.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4"/>
          <p:cNvSpPr/>
          <p:nvPr/>
        </p:nvSpPr>
        <p:spPr>
          <a:xfrm>
            <a:off x="5669280" y="512064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400"/>
              <a:buFont typeface="Manrope"/>
              <a:buNone/>
            </a:pPr>
            <a:r>
              <a:rPr b="1" i="1" lang="en-US" sz="14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Nicht: härter werden. Sondern: klüger mit sich umgehen.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4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sketch_gruppe.png" id="88" name="Google Shape;88;p15"/>
          <p:cNvPicPr preferRelativeResize="0"/>
          <p:nvPr/>
        </p:nvPicPr>
        <p:blipFill rotWithShape="1">
          <a:blip r:embed="rId3">
            <a:alphaModFix amt="28000"/>
          </a:blip>
          <a:srcRect b="0" l="0" r="0" t="0"/>
          <a:stretch/>
        </p:blipFill>
        <p:spPr>
          <a:xfrm>
            <a:off x="9448495" y="7315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5"/>
          <p:cNvSpPr/>
          <p:nvPr/>
        </p:nvSpPr>
        <p:spPr>
          <a:xfrm>
            <a:off x="640080" y="310896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7000"/>
              <a:buFont typeface="Manrope"/>
              <a:buNone/>
            </a:pPr>
            <a:r>
              <a:rPr i="0" lang="en-US" sz="7000" u="none" cap="none" strike="noStrike">
                <a:solidFill>
                  <a:srgbClr val="4A3F5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Die </a:t>
            </a:r>
            <a:r>
              <a:rPr i="0" lang="en-US" sz="70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6 Resilienz</a:t>
            </a:r>
            <a:r>
              <a:rPr i="0" lang="en-US" sz="7000" u="none" cap="none" strike="noStrike">
                <a:solidFill>
                  <a:srgbClr val="4A3F5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-</a:t>
            </a:r>
            <a:endParaRPr i="0" sz="7000" u="none" cap="none" strike="noStrike">
              <a:solidFill>
                <a:srgbClr val="4A3F54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7000"/>
              <a:buFont typeface="Manrope"/>
              <a:buNone/>
            </a:pPr>
            <a:r>
              <a:rPr i="0" lang="en-US" sz="7000" u="none" cap="none" strike="noStrike">
                <a:solidFill>
                  <a:srgbClr val="4A3F54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faktoren.</a:t>
            </a:r>
            <a:endParaRPr i="0" sz="7000" u="none" cap="none" strike="noStrike">
              <a:solidFill>
                <a:srgbClr val="4A3F54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05 / 19</a:t>
            </a:r>
            <a:endParaRPr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DIE 6 RESILIENZ-FAKTOREN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3000"/>
              <a:buFont typeface="Manrope"/>
              <a:buNone/>
            </a:pPr>
            <a:r>
              <a:rPr b="1" i="0" lang="en-US" sz="3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Sechs Hebel — und sie sind alle trainierbar.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640080" y="182880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914400" y="20574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914400" y="237744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Selbstregulation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914400" y="288036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Emotionen wahrnehmen, einordnen und steuern — auch unter Stress.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368698" y="182880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4643018" y="20574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/>
          <p:nvPr/>
        </p:nvSpPr>
        <p:spPr>
          <a:xfrm>
            <a:off x="4643018" y="237744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Optimismus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5" name="Google Shape;105;p16"/>
          <p:cNvSpPr/>
          <p:nvPr/>
        </p:nvSpPr>
        <p:spPr>
          <a:xfrm>
            <a:off x="4643018" y="288036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Eine realistisch-hoffnungs­volle Grundhaltung gegenüber dem, was kommt.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8097317" y="182880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8371637" y="205740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6"/>
          <p:cNvSpPr/>
          <p:nvPr/>
        </p:nvSpPr>
        <p:spPr>
          <a:xfrm>
            <a:off x="8371637" y="237744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Soziales Netz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8371637" y="288036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Tragfähige Beziehungen und ein Umfeld, das mitträgt und mit­denkt.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640080" y="397764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914400" y="420624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6"/>
          <p:cNvSpPr/>
          <p:nvPr/>
        </p:nvSpPr>
        <p:spPr>
          <a:xfrm>
            <a:off x="914400" y="452628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Selbstwirksamkeit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914400" y="502920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Das Vertrauen, mit eigenen Ressourcen Schwieriges bewältigen zu können.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6"/>
          <p:cNvSpPr/>
          <p:nvPr/>
        </p:nvSpPr>
        <p:spPr>
          <a:xfrm>
            <a:off x="4368698" y="397764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4643018" y="420624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6"/>
          <p:cNvSpPr/>
          <p:nvPr/>
        </p:nvSpPr>
        <p:spPr>
          <a:xfrm>
            <a:off x="4643018" y="452628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Lösungs­orientierung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4643018" y="502920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Aufmerksamkeit lenken — vom Problem zur nächst­möglichen Bewegung.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8097317" y="3977640"/>
            <a:ext cx="3454200" cy="1874400"/>
          </a:xfrm>
          <a:prstGeom prst="roundRect">
            <a:avLst>
              <a:gd fmla="val 3902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6"/>
          <p:cNvSpPr/>
          <p:nvPr/>
        </p:nvSpPr>
        <p:spPr>
          <a:xfrm>
            <a:off x="8371637" y="4206240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16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8371637" y="4526280"/>
            <a:ext cx="2905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i="0" lang="en-US" sz="1800" u="none" cap="none" strike="noStrike">
                <a:solidFill>
                  <a:srgbClr val="3A3142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Sinn &amp; Werte</a:t>
            </a:r>
            <a:endParaRPr i="0" sz="18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8371637" y="5029200"/>
            <a:ext cx="29058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50"/>
              <a:buFont typeface="Manrope"/>
              <a:buNone/>
            </a:pPr>
            <a:r>
              <a:rPr b="0" i="0" lang="en-US" sz="115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Eine innere Kompassnadel — wofür stehst du auf und wofür auf?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sketch_prozess.png" id="128" name="Google Shape;128;p17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9265615" y="731520"/>
            <a:ext cx="2194560" cy="21945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/>
          <p:nvPr/>
        </p:nvSpPr>
        <p:spPr>
          <a:xfrm>
            <a:off x="640080" y="3108960"/>
            <a:ext cx="100584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7000"/>
              <a:buFont typeface="Manrope"/>
              <a:buNone/>
            </a:pPr>
            <a:r>
              <a:rPr b="1" i="0" lang="en-US" sz="7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Wie </a:t>
            </a:r>
            <a:r>
              <a:rPr b="1" i="0" lang="en-US" sz="70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Veränderung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7000"/>
              <a:buFont typeface="Manrope"/>
              <a:buNone/>
            </a:pPr>
            <a:r>
              <a:rPr b="1" i="0" lang="en-US" sz="70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gelingt.</a:t>
            </a:r>
            <a:endParaRPr b="0" i="0" sz="7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07 / 19</a:t>
            </a:r>
            <a:endParaRPr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GEHIRN, GEWOHNHEIT, MOTIV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800"/>
              <a:buFont typeface="Manrope"/>
              <a:buNone/>
            </a:pPr>
            <a:r>
              <a:rPr b="1" i="0" lang="en-US" sz="2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Veränderung braucht mehr als guten Willen.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640080" y="2110065"/>
            <a:ext cx="5272800" cy="3657600"/>
          </a:xfrm>
          <a:prstGeom prst="roundRect">
            <a:avLst>
              <a:gd fmla="val 20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1005840" y="2338665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1005840" y="2887305"/>
            <a:ext cx="4541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So lernt das Gehirn.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1005840" y="3344505"/>
            <a:ext cx="4541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Neue Wege im Kopf entstehen durch Wieder­holung und Erleben. Was wir oft genug üben, wird vom Ausnahme­zustand zur neuen Normalität — neuronal mess­bar.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/>
          <p:nvPr/>
        </p:nvSpPr>
        <p:spPr>
          <a:xfrm>
            <a:off x="6278728" y="2110065"/>
            <a:ext cx="5272800" cy="3657600"/>
          </a:xfrm>
          <a:prstGeom prst="roundRect">
            <a:avLst>
              <a:gd fmla="val 2000" name="adj"/>
            </a:avLst>
          </a:prstGeom>
          <a:solidFill>
            <a:srgbClr val="3A31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644488" y="2338665"/>
            <a:ext cx="914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Manrope"/>
              <a:buNone/>
            </a:pPr>
            <a:r>
              <a:rPr b="1" i="0" lang="en-US" sz="20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6644488" y="2887305"/>
            <a:ext cx="4541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So zieht uns das Motiv.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6644488" y="3344505"/>
            <a:ext cx="4541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1400"/>
              <a:buFont typeface="Manrope"/>
              <a:buNone/>
            </a:pPr>
            <a:r>
              <a:rPr b="0" i="0" lang="en-US" sz="14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Veränderung ist anstrengend. Sie hält nur, wenn das eigene Motiv stark genug ist — nicht das, was wir wollen sollten, sondern das, was uns ehrlich zieht.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sketch_einzel.png" id="152" name="Google Shape;152;p19"/>
          <p:cNvPicPr preferRelativeResize="0"/>
          <p:nvPr/>
        </p:nvPicPr>
        <p:blipFill rotWithShape="1">
          <a:blip r:embed="rId3">
            <a:alphaModFix amt="28000"/>
          </a:blip>
          <a:srcRect b="0" l="0" r="0" t="0"/>
          <a:stretch/>
        </p:blipFill>
        <p:spPr>
          <a:xfrm>
            <a:off x="9448495" y="731520"/>
            <a:ext cx="2011680" cy="201168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9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09 / 19</a:t>
            </a:r>
            <a:endParaRPr sz="800"/>
          </a:p>
        </p:txBody>
      </p:sp>
      <p:sp>
        <p:nvSpPr>
          <p:cNvPr id="154" name="Google Shape;154;p19"/>
          <p:cNvSpPr/>
          <p:nvPr/>
        </p:nvSpPr>
        <p:spPr>
          <a:xfrm>
            <a:off x="640080" y="3108960"/>
            <a:ext cx="100584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6400"/>
              <a:buFont typeface="Manrope"/>
              <a:buNone/>
            </a:pPr>
            <a:r>
              <a:rPr lang="en-US" sz="6400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Systemisch.</a:t>
            </a:r>
            <a:endParaRPr sz="6400">
              <a:solidFill>
                <a:schemeClr val="dk1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6400"/>
              <a:buFont typeface="Manrope"/>
              <a:buNone/>
            </a:pPr>
            <a:r>
              <a:rPr lang="en-US" sz="6400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Lösungsorientiert.</a:t>
            </a:r>
            <a:endParaRPr b="1" sz="7000">
              <a:solidFill>
                <a:srgbClr val="3A314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WAS „SYSTEMISCH" BEDEUTET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/>
          <p:nvPr/>
        </p:nvSpPr>
        <p:spPr>
          <a:xfrm>
            <a:off x="640080" y="2079585"/>
            <a:ext cx="100584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800"/>
              <a:buFont typeface="Manrope"/>
              <a:buNone/>
            </a:pPr>
            <a:r>
              <a:rPr i="0" lang="en-US" sz="4800" u="none" cap="none" strike="noStrike">
                <a:solidFill>
                  <a:srgbClr val="3A3142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Du bist nicht das Problem.</a:t>
            </a:r>
            <a:endParaRPr i="0" sz="4800" u="none" cap="none" strike="noStrike">
              <a:solidFill>
                <a:srgbClr val="3A314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4800"/>
              <a:buFont typeface="Manrope"/>
              <a:buNone/>
            </a:pPr>
            <a:r>
              <a:rPr lang="en-US" sz="4800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Du bist der Mensch im System.</a:t>
            </a:r>
            <a:endParaRPr sz="4800">
              <a:solidFill>
                <a:srgbClr val="3A3142"/>
              </a:solidFill>
              <a:latin typeface="Manrope Medium"/>
              <a:ea typeface="Manrope Medium"/>
              <a:cs typeface="Manrope Medium"/>
              <a:sym typeface="Manrope Medium"/>
            </a:endParaRPr>
          </a:p>
        </p:txBody>
      </p:sp>
      <p:sp>
        <p:nvSpPr>
          <p:cNvPr id="162" name="Google Shape;162;p20"/>
          <p:cNvSpPr/>
          <p:nvPr/>
        </p:nvSpPr>
        <p:spPr>
          <a:xfrm>
            <a:off x="640080" y="3547110"/>
            <a:ext cx="96012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Systemisches Coaching schaut nicht nur auf dich allein, sondern auf das Zusammen­spiel aus Person, Beziehungen, Rollen und Kontext. Wir suchen die Hebel dort, wo sie wirklich liegen — und arbeiten ressourcen- statt defizit­orientiert.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0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10 / 19</a:t>
            </a:r>
            <a:endParaRPr sz="800"/>
          </a:p>
        </p:txBody>
      </p:sp>
      <p:sp>
        <p:nvSpPr>
          <p:cNvPr id="164" name="Google Shape;164;p20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COACHING-ABLAUF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800"/>
              <a:buFont typeface="Manrope"/>
              <a:buNone/>
            </a:pPr>
            <a:r>
              <a:rPr b="1" i="0" lang="en-US" sz="2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In vier Schritten — und in deinem Tempo.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640075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914400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01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4" name="Google Shape;174;p21"/>
          <p:cNvSpPr/>
          <p:nvPr/>
        </p:nvSpPr>
        <p:spPr>
          <a:xfrm>
            <a:off x="914400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Kennenlernen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914400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Kostenfreies Erstgespräch. Wir klären Anliegen, Passung und nächste Schritte.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1"/>
          <p:cNvSpPr/>
          <p:nvPr/>
        </p:nvSpPr>
        <p:spPr>
          <a:xfrm>
            <a:off x="3436541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21"/>
          <p:cNvSpPr/>
          <p:nvPr/>
        </p:nvSpPr>
        <p:spPr>
          <a:xfrm>
            <a:off x="3710864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02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78" name="Google Shape;178;p21"/>
          <p:cNvSpPr/>
          <p:nvPr/>
        </p:nvSpPr>
        <p:spPr>
          <a:xfrm>
            <a:off x="3710864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Profil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1"/>
          <p:cNvSpPr/>
          <p:nvPr/>
        </p:nvSpPr>
        <p:spPr>
          <a:xfrm>
            <a:off x="3710866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Wir erfassen dein Resilienz-Profil — was trägt, was klemmt, wo liegt der Hebel.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1"/>
          <p:cNvSpPr/>
          <p:nvPr/>
        </p:nvSpPr>
        <p:spPr>
          <a:xfrm>
            <a:off x="6233008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>
            <a:off x="6507328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03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2" name="Google Shape;182;p21"/>
          <p:cNvSpPr/>
          <p:nvPr/>
        </p:nvSpPr>
        <p:spPr>
          <a:xfrm>
            <a:off x="6507328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Methoden­koffer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1"/>
          <p:cNvSpPr/>
          <p:nvPr/>
        </p:nvSpPr>
        <p:spPr>
          <a:xfrm>
            <a:off x="6507333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Schritt für Schritt entsteht dein persönlicher Werkzeug­satz für den Alltag.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1"/>
          <p:cNvSpPr/>
          <p:nvPr/>
        </p:nvSpPr>
        <p:spPr>
          <a:xfrm>
            <a:off x="9029473" y="2501133"/>
            <a:ext cx="2522100" cy="2736300"/>
          </a:xfrm>
          <a:prstGeom prst="roundRect">
            <a:avLst>
              <a:gd fmla="val 2900" name="adj"/>
            </a:avLst>
          </a:prstGeom>
          <a:solidFill>
            <a:srgbClr val="EEE9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9303791" y="278892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100"/>
              <a:buFont typeface="Manrope"/>
              <a:buNone/>
            </a:pPr>
            <a:r>
              <a:rPr i="0" lang="en-US" sz="16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04</a:t>
            </a:r>
            <a:endParaRPr i="0" sz="1600" u="none" cap="none" strike="noStrike">
              <a:solidFill>
                <a:srgbClr val="E8A33D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86" name="Google Shape;186;p21"/>
          <p:cNvSpPr/>
          <p:nvPr/>
        </p:nvSpPr>
        <p:spPr>
          <a:xfrm>
            <a:off x="9303791" y="3200400"/>
            <a:ext cx="197350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800"/>
              <a:buFont typeface="Manrope"/>
              <a:buNone/>
            </a:pPr>
            <a:r>
              <a:rPr b="1" i="0" lang="en-US" sz="1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Integration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1"/>
          <p:cNvSpPr/>
          <p:nvPr/>
        </p:nvSpPr>
        <p:spPr>
          <a:xfrm>
            <a:off x="9303798" y="3880199"/>
            <a:ext cx="1973400" cy="11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Wir üben, übertragen, justieren — bis Neues vom Versuch zur Routine wird.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1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11 / 19</a:t>
            </a:r>
            <a:endParaRPr sz="800"/>
          </a:p>
        </p:txBody>
      </p:sp>
      <p:sp>
        <p:nvSpPr>
          <p:cNvPr id="189" name="Google Shape;189;p21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sessions/ecstatic-compassionate-tesla/mnt/outputs/brand/sketch_einzel_light.png" id="195" name="Google Shape;195;p22"/>
          <p:cNvPicPr preferRelativeResize="0"/>
          <p:nvPr/>
        </p:nvPicPr>
        <p:blipFill rotWithShape="1">
          <a:blip r:embed="rId3">
            <a:alphaModFix amt="28000"/>
          </a:blip>
          <a:srcRect b="0" l="0" r="0" t="0"/>
          <a:stretch/>
        </p:blipFill>
        <p:spPr>
          <a:xfrm>
            <a:off x="8899855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prozess_light.png" id="196" name="Google Shape;196;p22"/>
          <p:cNvPicPr preferRelativeResize="0"/>
          <p:nvPr/>
        </p:nvPicPr>
        <p:blipFill rotWithShape="1">
          <a:blip r:embed="rId4">
            <a:alphaModFix amt="28000"/>
          </a:blip>
          <a:srcRect b="0" l="0" r="0" t="0"/>
          <a:stretch/>
        </p:blipFill>
        <p:spPr>
          <a:xfrm>
            <a:off x="9997135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sessions/ecstatic-compassionate-tesla/mnt/outputs/brand/sketch_gruppe_light.png" id="197" name="Google Shape;197;p22"/>
          <p:cNvPicPr preferRelativeResize="0"/>
          <p:nvPr/>
        </p:nvPicPr>
        <p:blipFill rotWithShape="1">
          <a:blip r:embed="rId5">
            <a:alphaModFix amt="28000"/>
          </a:blip>
          <a:srcRect b="0" l="0" r="0" t="0"/>
          <a:stretch/>
        </p:blipFill>
        <p:spPr>
          <a:xfrm>
            <a:off x="11094415" y="4572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/>
        </p:nvSpPr>
        <p:spPr>
          <a:xfrm>
            <a:off x="640080" y="3108960"/>
            <a:ext cx="10058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7000"/>
              <a:buFont typeface="Manrope"/>
              <a:buNone/>
            </a:pPr>
            <a:r>
              <a:rPr i="0" lang="en-US" sz="7000" u="none" cap="none" strike="noStrike">
                <a:solidFill>
                  <a:srgbClr val="FCFBFA"/>
                </a:solidFill>
                <a:latin typeface="Manrope Medium"/>
                <a:ea typeface="Manrope Medium"/>
                <a:cs typeface="Manrope Medium"/>
                <a:sym typeface="Manrope Medium"/>
              </a:rPr>
              <a:t>Mein</a:t>
            </a:r>
            <a:r>
              <a:rPr b="1" i="0" lang="en-US" sz="70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i="0" lang="en-US" sz="7000" u="none" cap="none" strike="noStrike">
                <a:solidFill>
                  <a:srgbClr val="E8A33D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Angebot.</a:t>
            </a:r>
            <a:endParaRPr i="0" sz="7000" u="none" cap="none" strike="noStrike">
              <a:solidFill>
                <a:schemeClr val="dk1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640080" y="47548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1800"/>
              <a:buFont typeface="Manrope"/>
              <a:buNone/>
            </a:pPr>
            <a:r>
              <a:rPr b="0" lang="en-US" sz="18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Einzeln, im Team oder in der Gruppe — drei Wege, ein Ziel: getragene Resilienz.</a:t>
            </a:r>
            <a:endParaRPr b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DREI FORMATE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640080" y="100584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800"/>
              <a:buFont typeface="Manrope"/>
              <a:buNone/>
            </a:pPr>
            <a:r>
              <a:rPr b="1" i="0" lang="en-US" sz="28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Für Privat­personen, Teams und Gruppen.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640080" y="1828800"/>
            <a:ext cx="3454200" cy="4114800"/>
          </a:xfrm>
          <a:prstGeom prst="roundRect">
            <a:avLst>
              <a:gd fmla="val 2118" name="adj"/>
            </a:avLst>
          </a:prstGeom>
          <a:solidFill>
            <a:srgbClr val="FCFBFA"/>
          </a:solidFill>
          <a:ln cap="flat" cmpd="sng" w="12700">
            <a:solidFill>
              <a:srgbClr val="E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cstatic-compassionate-tesla/mnt/outputs/brand/sketch_einzel.png" id="208" name="Google Shape;208;p2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3149498" y="19507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/>
          <p:nvPr/>
        </p:nvSpPr>
        <p:spPr>
          <a:xfrm>
            <a:off x="914400" y="2240280"/>
            <a:ext cx="208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9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B2C / B2B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914400" y="2682240"/>
            <a:ext cx="290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Einzel-Coaching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914400" y="3337560"/>
            <a:ext cx="290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Persönlich und individuell. Für berufliche und private Themen rund um Resilienz und mentale Gesundheit.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914400" y="4709160"/>
            <a:ext cx="290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90 Min. pro Sitzung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5–10 Sitzungen Richtwert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Vor Ort in München · online deutschlandweit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4368698" y="1828800"/>
            <a:ext cx="3454200" cy="4114800"/>
          </a:xfrm>
          <a:prstGeom prst="roundRect">
            <a:avLst>
              <a:gd fmla="val 2118" name="adj"/>
            </a:avLst>
          </a:prstGeom>
          <a:solidFill>
            <a:srgbClr val="FCFBFA"/>
          </a:solidFill>
          <a:ln cap="flat" cmpd="sng" w="12700">
            <a:solidFill>
              <a:srgbClr val="E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cstatic-compassionate-tesla/mnt/outputs/brand/sketch_prozess.png" id="214" name="Google Shape;214;p23"/>
          <p:cNvPicPr preferRelativeResize="0"/>
          <p:nvPr/>
        </p:nvPicPr>
        <p:blipFill rotWithShape="1">
          <a:blip r:embed="rId4">
            <a:alphaModFix amt="70000"/>
          </a:blip>
          <a:srcRect b="0" l="0" r="0" t="0"/>
          <a:stretch/>
        </p:blipFill>
        <p:spPr>
          <a:xfrm>
            <a:off x="6725617" y="17602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3"/>
          <p:cNvSpPr/>
          <p:nvPr/>
        </p:nvSpPr>
        <p:spPr>
          <a:xfrm>
            <a:off x="4643018" y="2240280"/>
            <a:ext cx="208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9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B2B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3"/>
          <p:cNvSpPr/>
          <p:nvPr/>
        </p:nvSpPr>
        <p:spPr>
          <a:xfrm>
            <a:off x="4643018" y="2682240"/>
            <a:ext cx="290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Workshops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4643018" y="3337560"/>
            <a:ext cx="290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Für Teams und Organisationen, die Stress­management und Mentalgesundheit konkret angehen wollen.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4643018" y="4709160"/>
            <a:ext cx="290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Halb- oder ganztägig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Format auf das Team abgestimmt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Praxis statt PowerPoint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3"/>
          <p:cNvSpPr/>
          <p:nvPr/>
        </p:nvSpPr>
        <p:spPr>
          <a:xfrm>
            <a:off x="8097317" y="1828800"/>
            <a:ext cx="3454200" cy="4114800"/>
          </a:xfrm>
          <a:prstGeom prst="roundRect">
            <a:avLst>
              <a:gd fmla="val 2118" name="adj"/>
            </a:avLst>
          </a:prstGeom>
          <a:solidFill>
            <a:srgbClr val="FCFBFA"/>
          </a:solidFill>
          <a:ln cap="flat" cmpd="sng" w="12700">
            <a:solidFill>
              <a:srgbClr val="E5DF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cstatic-compassionate-tesla/mnt/outputs/brand/sketch_gruppe.png" id="220" name="Google Shape;220;p23"/>
          <p:cNvPicPr preferRelativeResize="0"/>
          <p:nvPr/>
        </p:nvPicPr>
        <p:blipFill rotWithShape="1">
          <a:blip r:embed="rId5">
            <a:alphaModFix amt="70000"/>
          </a:blip>
          <a:srcRect b="0" l="0" r="0" t="0"/>
          <a:stretch/>
        </p:blipFill>
        <p:spPr>
          <a:xfrm>
            <a:off x="10606735" y="1950720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/>
          <p:nvPr/>
        </p:nvSpPr>
        <p:spPr>
          <a:xfrm>
            <a:off x="8371637" y="2240280"/>
            <a:ext cx="2082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9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B2C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8371637" y="2682240"/>
            <a:ext cx="2905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2200"/>
              <a:buFont typeface="Manrope"/>
              <a:buNone/>
            </a:pPr>
            <a:r>
              <a:rPr b="1" i="0" lang="en-US" sz="2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Gruppen-Coaching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8371637" y="3337560"/>
            <a:ext cx="29058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200"/>
              <a:buFont typeface="Manrope"/>
              <a:buNone/>
            </a:pPr>
            <a:r>
              <a:rPr b="0" i="0" lang="en-US" sz="12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Im kleinen Kreis lernen, üben, sich austauschen — gemeinsam wächst es leichter.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8371637" y="4709160"/>
            <a:ext cx="29058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4–8 Teilnehmer:innen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6–8 Termine im Block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rgbClr val="3A3142"/>
              </a:buClr>
              <a:buSzPts val="1100"/>
              <a:buFont typeface="Manrope"/>
              <a:buChar char="—"/>
            </a:pPr>
            <a:r>
              <a:rPr b="0" i="0" lang="en-US" sz="11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Wochentag­abende oder Samstage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3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title="friederike-hero.jpg"/>
          <p:cNvPicPr preferRelativeResize="0"/>
          <p:nvPr/>
        </p:nvPicPr>
        <p:blipFill rotWithShape="1">
          <a:blip r:embed="rId3">
            <a:alphaModFix/>
          </a:blip>
          <a:srcRect b="4579" l="0" r="0" t="4570"/>
          <a:stretch/>
        </p:blipFill>
        <p:spPr>
          <a:xfrm>
            <a:off x="0" y="0"/>
            <a:ext cx="50291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5669280" y="1051555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WER ICH BIN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/>
          <p:nvPr/>
        </p:nvSpPr>
        <p:spPr>
          <a:xfrm>
            <a:off x="5669280" y="2240275"/>
            <a:ext cx="588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300"/>
              <a:buFont typeface="Manrope"/>
              <a:buNone/>
            </a:pPr>
            <a:r>
              <a:rPr b="0" lang="en-US" sz="16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Systemischer Coach · Resilienz &amp; mentale Gesundheit</a:t>
            </a:r>
            <a:endParaRPr b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4"/>
          <p:cNvSpPr/>
          <p:nvPr/>
        </p:nvSpPr>
        <p:spPr>
          <a:xfrm>
            <a:off x="5669280" y="2811745"/>
            <a:ext cx="58824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1300"/>
              <a:buFont typeface="Manrope"/>
              <a:buNone/>
            </a:pPr>
            <a:r>
              <a:rPr b="0" i="0" lang="en-US" sz="13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Ich arbeite mit Menschen, die spüren, dass es so nicht weitergeht — und die bereit sind, etwas zu verändern. Was ich mitbringe: eine fundierte Ausbildung im systemisch-lösungs­orientierten Coaching, jahrelange Berufs­erfahrung — und die eigene Erfahrung als Mutter, Selbstständige und Mensch, der weiß, wie sich Erschöpfung anfühlt.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/>
          <p:nvPr/>
        </p:nvSpPr>
        <p:spPr>
          <a:xfrm>
            <a:off x="5669280" y="5120500"/>
            <a:ext cx="5882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200"/>
              <a:buFont typeface="Manrope"/>
              <a:buNone/>
            </a:pPr>
            <a:r>
              <a:rPr b="0" i="1" lang="en-US" sz="12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Mein Versprechen: kein Programm von der Stange. Sondern echter Raum für das, was bei dir dran ist.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4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16 / 19</a:t>
            </a:r>
            <a:endParaRPr sz="800"/>
          </a:p>
        </p:txBody>
      </p:sp>
      <p:sp>
        <p:nvSpPr>
          <p:cNvPr id="237" name="Google Shape;237;p24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8" name="Google Shape;238;p24" title="FA_Logo_horizontal_01_Flieder50.png"/>
          <p:cNvPicPr preferRelativeResize="0"/>
          <p:nvPr/>
        </p:nvPicPr>
        <p:blipFill rotWithShape="1">
          <a:blip r:embed="rId4">
            <a:alphaModFix/>
          </a:blip>
          <a:srcRect b="35048" l="0" r="0" t="0"/>
          <a:stretch/>
        </p:blipFill>
        <p:spPr>
          <a:xfrm>
            <a:off x="5440550" y="1389751"/>
            <a:ext cx="5715124" cy="80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7F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640080" y="1097280"/>
            <a:ext cx="18288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20000"/>
              <a:buFont typeface="Georgia"/>
              <a:buNone/>
            </a:pPr>
            <a:r>
              <a:rPr b="0" i="0" lang="en-US" sz="20000" u="none" cap="none" strike="noStrike">
                <a:solidFill>
                  <a:srgbClr val="E8A33D"/>
                </a:solidFill>
                <a:latin typeface="Georgia"/>
                <a:ea typeface="Georgia"/>
                <a:cs typeface="Georgia"/>
                <a:sym typeface="Georgia"/>
              </a:rPr>
              <a:t>"</a:t>
            </a:r>
            <a:endParaRPr b="0" i="0" sz="20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640080" y="2743200"/>
            <a:ext cx="10911535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3142"/>
              </a:buClr>
              <a:buSzPts val="4400"/>
              <a:buFont typeface="Manrope"/>
              <a:buNone/>
            </a:pPr>
            <a:r>
              <a:rPr b="0" i="1" lang="en-US" sz="4400" u="none" cap="none" strike="noStrike">
                <a:solidFill>
                  <a:srgbClr val="3A3142"/>
                </a:solidFill>
                <a:latin typeface="Manrope"/>
                <a:ea typeface="Manrope"/>
                <a:cs typeface="Manrope"/>
                <a:sym typeface="Manrope"/>
              </a:rPr>
              <a:t>Resilienz ist trainierbar — und kein Schicksal.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640080" y="5303520"/>
            <a:ext cx="10911535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F4F75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5F4F75"/>
                </a:solidFill>
                <a:latin typeface="Manrope"/>
                <a:ea typeface="Manrope"/>
                <a:cs typeface="Manrope"/>
                <a:sym typeface="Manrope"/>
              </a:rPr>
              <a:t>FRIEDERIKE ALTMANN · KERN­SATZ MEINER ARBEIT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>
            <p:ph idx="1" type="body"/>
          </p:nvPr>
        </p:nvSpPr>
        <p:spPr>
          <a:xfrm>
            <a:off x="9675190" y="6195813"/>
            <a:ext cx="182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6B6470"/>
              </a:buClr>
              <a:buSzPts val="800"/>
              <a:buNone/>
            </a:pPr>
            <a:r>
              <a:rPr lang="en-US" sz="800">
                <a:solidFill>
                  <a:srgbClr val="6B6470"/>
                </a:solidFill>
                <a:latin typeface="Manrope"/>
                <a:ea typeface="Manrope"/>
                <a:cs typeface="Manrope"/>
                <a:sym typeface="Manrope"/>
              </a:rPr>
              <a:t>17 / 19</a:t>
            </a:r>
            <a:endParaRPr sz="800"/>
          </a:p>
        </p:txBody>
      </p:sp>
      <p:sp>
        <p:nvSpPr>
          <p:cNvPr id="248" name="Google Shape;248;p25"/>
          <p:cNvSpPr txBox="1"/>
          <p:nvPr>
            <p:ph idx="4294967295" type="sldNum"/>
          </p:nvPr>
        </p:nvSpPr>
        <p:spPr>
          <a:xfrm>
            <a:off x="-914400" y="-91440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6"/>
          <p:cNvSpPr/>
          <p:nvPr/>
        </p:nvSpPr>
        <p:spPr>
          <a:xfrm>
            <a:off x="640080" y="27432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3DDEA"/>
              </a:buClr>
              <a:buSzPts val="900"/>
              <a:buFont typeface="Manrope"/>
              <a:buNone/>
            </a:pPr>
            <a:r>
              <a:rPr b="1" i="0" lang="en-US" sz="1200" u="none" cap="none" strike="noStrike">
                <a:solidFill>
                  <a:srgbClr val="E3DDEA"/>
                </a:solidFill>
                <a:latin typeface="Manrope"/>
                <a:ea typeface="Manrope"/>
                <a:cs typeface="Manrope"/>
                <a:sym typeface="Manrope"/>
              </a:rPr>
              <a:t>DANKE — UND BIS BALD.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6"/>
          <p:cNvSpPr/>
          <p:nvPr/>
        </p:nvSpPr>
        <p:spPr>
          <a:xfrm>
            <a:off x="640080" y="315468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6400"/>
              <a:buFont typeface="Manrope"/>
              <a:buNone/>
            </a:pPr>
            <a:r>
              <a:rPr i="0" lang="en-US" sz="6400" u="none" cap="none" strike="noStrike">
                <a:solidFill>
                  <a:srgbClr val="FCFBFA"/>
                </a:solidFill>
                <a:latin typeface="Manrope Light"/>
                <a:ea typeface="Manrope Light"/>
                <a:cs typeface="Manrope Light"/>
                <a:sym typeface="Manrope Light"/>
              </a:rPr>
              <a:t>Lass uns</a:t>
            </a:r>
            <a:r>
              <a:rPr b="1" i="0" lang="en-US" sz="64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i="0" lang="en-US" sz="6400" u="none" cap="none" strike="noStrike">
                <a:solidFill>
                  <a:srgbClr val="E8A33D"/>
                </a:solidFill>
                <a:latin typeface="Manrope"/>
                <a:ea typeface="Manrope"/>
                <a:cs typeface="Manrope"/>
                <a:sym typeface="Manrope"/>
              </a:rPr>
              <a:t>reden.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6"/>
          <p:cNvSpPr/>
          <p:nvPr/>
        </p:nvSpPr>
        <p:spPr>
          <a:xfrm>
            <a:off x="640080" y="50292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MAIL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6"/>
          <p:cNvSpPr/>
          <p:nvPr/>
        </p:nvSpPr>
        <p:spPr>
          <a:xfrm>
            <a:off x="1920240" y="50292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post@friederikealtmann.de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6"/>
          <p:cNvSpPr/>
          <p:nvPr/>
        </p:nvSpPr>
        <p:spPr>
          <a:xfrm>
            <a:off x="640080" y="54864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MOBIL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6"/>
          <p:cNvSpPr/>
          <p:nvPr/>
        </p:nvSpPr>
        <p:spPr>
          <a:xfrm>
            <a:off x="1920240" y="5486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+49 178 28 05 138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/>
          <p:nvPr/>
        </p:nvSpPr>
        <p:spPr>
          <a:xfrm>
            <a:off x="640080" y="5943600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DB0CC"/>
              </a:buClr>
              <a:buSzPts val="1000"/>
              <a:buFont typeface="Manrope"/>
              <a:buNone/>
            </a:pPr>
            <a:r>
              <a:rPr b="1" i="0" lang="en-US" sz="1000" u="none" cap="none" strike="noStrike">
                <a:solidFill>
                  <a:srgbClr val="BDB0CC"/>
                </a:solidFill>
                <a:latin typeface="Manrope"/>
                <a:ea typeface="Manrope"/>
                <a:cs typeface="Manrope"/>
                <a:sym typeface="Manrope"/>
              </a:rPr>
              <a:t>WEB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6"/>
          <p:cNvSpPr/>
          <p:nvPr/>
        </p:nvSpPr>
        <p:spPr>
          <a:xfrm>
            <a:off x="1920240" y="5943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CFBFA"/>
              </a:buClr>
              <a:buSzPts val="1600"/>
              <a:buFont typeface="Manrope"/>
              <a:buNone/>
            </a:pPr>
            <a:r>
              <a:rPr b="0" i="0" lang="en-US" sz="1600" u="none" cap="none" strike="noStrike">
                <a:solidFill>
                  <a:srgbClr val="FCFBFA"/>
                </a:solidFill>
                <a:latin typeface="Manrope"/>
                <a:ea typeface="Manrope"/>
                <a:cs typeface="Manrope"/>
                <a:sym typeface="Manrope"/>
              </a:rPr>
              <a:t>www.friederikealtmann.de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